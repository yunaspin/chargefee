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大家好，今天我来分享一个独立开发项目——电费监控精灵。这是一个用 Python 写的 Windows 自动化工具，帮我在出租屋里自动监控电费余额，低于阈值就发短信提醒。整个过程从发现真实痛点到最终交付，有很多值得聊的工程决策。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整个分享分成六个部分：先说我为什么会做这个软件，也就是实际遇到的问题；然后是需求背景和核心约束；接着是最核心的技术挑战，怎么绕过微信 OAuth 认证；再往下是页面解析和短信通知方案；然后是程序架构和最终效果；最后是四条关键经验总结。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说为什么会有这个项目，这不止是一个技术练习。我住的出租屋电费通过微信小程序缴纳，平台没有任何余额不足的主动提醒。好几次电费用完了，直接拉闸断电，问题是当时我的台式电脑正开着，突然断电对硬盘和电源的伤害非常大，有一次差点把硬盘搞坏。这件事成了最直接的动力。既然平台不提醒我，那我就自己写一个工具，不等它断电，我来掌握什么时候该充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具体来看需求。出租屋的电费通过一个叫辰域智控的微信小程序缴纳，房东给了个二维码，扫码进缴费页面。核心约束有三个：不能依赖手机、不能依赖微信、不能依赖人工扫码。程序必须在 Windows 上独立自主运行，告警走短信而不是弹窗，因为弹窗根本没人看。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核心难题卡在认证上。正常流程是微信扫码触发 OAuth，返回一个一次性的 code，回调到 pay.aspx 页面。这个 code 每次扫码不同，没办法复用在脚本里。我们通过 mitmproxy 抓包看到了完整请求，发现 state 参数的值看起来像电表 ID，而且返回的 HTML 里直接就有电费数据。这个观察成了突破口。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深入研究之后的发现是整个项目的基石。我把 code 参数换成 mid，直接用电表 ID 访问，结果不需要任何 Cookie、不需要认证，服务端直接返回完整页面。这大概率是后端的一个内部接口，没有做权限校验。一个参数名的变化就绕过了微信 OAuth。这种隐藏接口无鉴权的情况在国内小型 IoT 平台里并不少见。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拿到页面之后就是解析 HTML。三个关键字段：表名、剩余金额、剩余电量。解析踩了两个坑。第一个是正则匹配不到表名，因为 HTML 里用 ensp 实体而不是空白字符，s 匹配不到，改成宽泛匹配解决。第二个是中文乱码，按 utf-8 decode 就行。教训是 HTML 实体不等于正则空白，编码声明不能完全信任。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告警走短信。两种方案对比：直接调阿里云或腾讯云短信 API，需要企业资质、签名报备、模板审核，个人开发者根本用不了。方案 B 是 QQ 邮箱 SMTP 发邮件到 139 邮箱，139 邮箱触发短信通知，中国移动下发到手机。这个方案完全免费、零门槛，告警量一天几条，完全够用。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四阶段通知管道看起来直接，但排查中踩了个关键的坑。QQ SMTP 发送成功，139 邮箱网页版也能收到，但手机就是没短信。逐一排查后发现 139 邮箱的短信通知功能默认关闭，需要手动去设置里开启。教训是：短信下发链路的每个环节都可能沉默失败，SMTP 成功不等于邮件到达，邮件到达不等于短信发送。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程序架构坚持 Python 标准库优先。GUI 用 tkinter，HTTP 用 urllib，邮件用 smtplib，配置用 json，解析用 re。除了 PyInstaller 打包之外零依赖。三个核心设计决策：定时调度用 after 而不是 Event，因为后台线程不能直接操作 tkinter；打包时分离可写目录和只读资源目录；告警策略直接简单，低于阈值就发。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最终交付的是一个十二兆的 electric.exe 单文件，不需要安装 Python，拷到任何 Windows 电脑就能运行。每十分钟自动查询，余额或电量低于阈值就发短信。窗口实时显示电表名称、剩余金额、剩余电量和下次查询倒计时。一个 exe，一台电脑，再也不怕突然断电。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四条关键经验。第一，隐藏接口是无鉴权系统的最薄弱环节，code 到 mid 一个参数名变化就绕过 OAuth。第二，短信下发链路每个环节都可能沉默失败，排查要逐一验证。第三，PyInstaller onefile 模式的文件路径在开发和打包后完全不同，必须分目录处理。第四，Python 标准库能做的事远超想象，tkinter 加 urllib 加 smtplib 加 json 加 re 就搞定了全部需求。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感谢聆听。这个项目给我的最大启发是：用最简单的工具解决最真实的问题。突然断电差点毁掉一台台式机，这个真实的痛点催生了一个实用的工具。不需要复杂架构，Python 标准库加上一点安全审计思维就足够了。希望今天的分享对你们有启发。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8BDF8">
                  <a:alpha val="6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4D399">
                  <a:alpha val="5000"/>
                </a:srgbClr>
              </a:gs>
              <a:gs pos="100000">
                <a:srgbClr val="34D3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334500" y="638175"/>
            <a:ext cx="1733550" cy="1090612"/>
            <a:chOff x="9334500" y="638175"/>
            <a:chExt cx="1733550" cy="1090612"/>
          </a:xfrm>
        </p:grpSpPr>
        <p:sp>
          <p:nvSpPr>
            <p:cNvPr id="5" name="Rectangle 5"/>
            <p:cNvSpPr/>
            <p:nvPr/>
          </p:nvSpPr>
          <p:spPr>
            <a:xfrm>
              <a:off x="9334500" y="762000"/>
              <a:ext cx="1143000" cy="1905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715500" y="952500"/>
              <a:ext cx="762000" cy="19050"/>
            </a:xfrm>
            <a:prstGeom prst="roundRect">
              <a:avLst>
                <a:gd name="adj" fmla="val 50000"/>
              </a:avLst>
            </a:prstGeom>
            <a:solidFill>
              <a:srgbClr val="818CF8">
                <a:alpha val="2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48925" y="638175"/>
              <a:ext cx="57150" cy="57150"/>
            </a:xfrm>
            <a:prstGeom prst="ellipse">
              <a:avLst/>
            </a:prstGeom>
            <a:solidFill>
              <a:srgbClr val="38BDF8">
                <a:alpha val="3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29950" y="1409700"/>
              <a:ext cx="38100" cy="38100"/>
            </a:xfrm>
            <a:prstGeom prst="ellipse">
              <a:avLst/>
            </a:prstGeom>
            <a:solidFill>
              <a:srgbClr val="34D399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72712" y="1700212"/>
              <a:ext cx="28575" cy="28575"/>
            </a:xfrm>
            <a:prstGeom prst="ellipse">
              <a:avLst/>
            </a:prstGeom>
            <a:solidFill>
              <a:srgbClr val="818CF8">
                <a:alpha val="25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2938" y="5414962"/>
            <a:ext cx="609599" cy="871538"/>
            <a:chOff x="642938" y="5414962"/>
            <a:chExt cx="609599" cy="871538"/>
          </a:xfrm>
        </p:grpSpPr>
        <p:sp>
          <p:nvSpPr>
            <p:cNvPr id="11" name="Rectangle 11"/>
            <p:cNvSpPr/>
            <p:nvPr/>
          </p:nvSpPr>
          <p:spPr>
            <a:xfrm>
              <a:off x="762000" y="5524500"/>
              <a:ext cx="19050" cy="7620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5715000"/>
              <a:ext cx="19050" cy="571500"/>
            </a:xfrm>
            <a:prstGeom prst="roundRect">
              <a:avLst>
                <a:gd name="adj" fmla="val 50000"/>
              </a:avLst>
            </a:prstGeom>
            <a:solidFill>
              <a:srgbClr val="34D399">
                <a:alpha val="1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2938" y="5881688"/>
              <a:ext cx="47625" cy="4762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23962" y="5414962"/>
              <a:ext cx="28575" cy="28575"/>
            </a:xfrm>
            <a:prstGeom prst="ellipse">
              <a:avLst/>
            </a:prstGeom>
            <a:solidFill>
              <a:srgbClr val="818CF8">
                <a:alpha val="200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625"/>
            </a:avLst>
          </a:prstGeom>
          <a:noFill/>
          <a:ln w="9525">
            <a:solidFill>
              <a:srgbClr val="1E293B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715000" y="1714500"/>
            <a:ext cx="5905500" cy="4000500"/>
            <a:chOff x="5715000" y="1714500"/>
            <a:chExt cx="59055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5715000" y="1714500"/>
              <a:ext cx="5905500" cy="4000500"/>
            </a:xfrm>
            <a:prstGeom prst="roundRect">
              <a:avLst>
                <a:gd name="adj" fmla="val 2857"/>
              </a:avLst>
            </a:prstGeom>
            <a:noFill/>
            <a:ln w="14288">
              <a:solidFill>
                <a:srgbClr val="1E293B"/>
              </a:solidFill>
              <a:prstDash val="lg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98057" y="37047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AI cover image (Needs-Manual)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3485" y="39033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Place cover_bg.png in images/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3420" y="2084070"/>
            <a:ext cx="5776722" cy="1502092"/>
            <a:chOff x="693420" y="2084070"/>
            <a:chExt cx="5776722" cy="1502092"/>
          </a:xfrm>
        </p:grpSpPr>
        <p:sp>
          <p:nvSpPr>
            <p:cNvPr id="21" name="TextBox 21"/>
            <p:cNvSpPr txBox="1"/>
            <p:nvPr/>
          </p:nvSpPr>
          <p:spPr>
            <a:xfrm>
              <a:off x="693420" y="2084070"/>
              <a:ext cx="510578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电费监控精灵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9527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1045" y="3250882"/>
              <a:ext cx="57290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从零到一的 Windows 自动化电费监控与短信告警工具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7712" y="4641056"/>
            <a:ext cx="1014412" cy="459582"/>
            <a:chOff x="747712" y="4641056"/>
            <a:chExt cx="1014412" cy="459582"/>
          </a:xfrm>
        </p:grpSpPr>
        <p:sp>
          <p:nvSpPr>
            <p:cNvPr id="25" name="TextBox 25"/>
            <p:cNvSpPr txBox="1"/>
            <p:nvPr/>
          </p:nvSpPr>
          <p:spPr>
            <a:xfrm>
              <a:off x="747712" y="46410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项目复盘分享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4887278"/>
              <a:ext cx="893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 年 5 月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131B2E">
              <a:alpha val="5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" y="66675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22922" y="6673691"/>
            <a:ext cx="707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PPT-MASTER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38BDF8">
              <a:alpha val="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52438"/>
            <a:ext cx="928211" cy="581024"/>
            <a:chOff x="571500" y="452438"/>
            <a:chExt cx="928211" cy="581024"/>
          </a:xfrm>
        </p:grpSpPr>
        <p:sp>
          <p:nvSpPr>
            <p:cNvPr id="4" name="Rectangle 4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52475" y="452438"/>
              <a:ext cx="7472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7715" y="820102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00" y="1381125"/>
            <a:ext cx="4953000" cy="762000"/>
            <a:chOff x="952500" y="1381125"/>
            <a:chExt cx="4953000" cy="762000"/>
          </a:xfrm>
        </p:grpSpPr>
        <p:sp>
          <p:nvSpPr>
            <p:cNvPr id="8" name="Rectangle 8"/>
            <p:cNvSpPr/>
            <p:nvPr/>
          </p:nvSpPr>
          <p:spPr>
            <a:xfrm>
              <a:off x="952500" y="1381125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381125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9210" y="1470660"/>
              <a:ext cx="4205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6902" y="158924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实际问题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2618" y="1875949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突然断电 · 台式机差点挂掉 · 开发动机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381125"/>
            <a:ext cx="4953000" cy="762000"/>
            <a:chOff x="6286500" y="1381125"/>
            <a:chExt cx="4953000" cy="7620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381125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381125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33210" y="1470660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20902" y="158924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需求背景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26618" y="187594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出租屋场景 · 核心约束 · 目标定义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2500" y="2381250"/>
            <a:ext cx="4953000" cy="762000"/>
            <a:chOff x="952500" y="2381250"/>
            <a:chExt cx="4953000" cy="762000"/>
          </a:xfrm>
        </p:grpSpPr>
        <p:sp>
          <p:nvSpPr>
            <p:cNvPr id="20" name="Rectangle 20"/>
            <p:cNvSpPr/>
            <p:nvPr/>
          </p:nvSpPr>
          <p:spPr>
            <a:xfrm>
              <a:off x="952500" y="2381250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2500" y="2381250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9210" y="247078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86902" y="2589371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核心难题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2618" y="2876074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微信 OAuth 绕过 · code → mid 关键发现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2381250"/>
            <a:ext cx="4953000" cy="762000"/>
            <a:chOff x="6286500" y="2381250"/>
            <a:chExt cx="4953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6286500" y="2381250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2381250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33210" y="247078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20902" y="2589371"/>
              <a:ext cx="20357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页面解析 &amp; 短信通知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26618" y="2876074"/>
              <a:ext cx="28941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HTML 提取 · 正则踩坑 · 方案对比 · 排查过程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" y="3381375"/>
            <a:ext cx="4953000" cy="762000"/>
            <a:chOff x="952500" y="3381375"/>
            <a:chExt cx="4953000" cy="762000"/>
          </a:xfrm>
        </p:grpSpPr>
        <p:sp>
          <p:nvSpPr>
            <p:cNvPr id="32" name="Rectangle 32"/>
            <p:cNvSpPr/>
            <p:nvPr/>
          </p:nvSpPr>
          <p:spPr>
            <a:xfrm>
              <a:off x="952500" y="3381375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52500" y="3381375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99210" y="3470910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86902" y="3589496"/>
              <a:ext cx="20357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程序架构 &amp; 最终效果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92618" y="3876199"/>
              <a:ext cx="27944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技术选型 · 设计决策 · 运行效果 · 打包交付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381375"/>
            <a:ext cx="4953000" cy="762000"/>
            <a:chOff x="6286500" y="3381375"/>
            <a:chExt cx="4953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3381375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86500" y="3381375"/>
              <a:ext cx="5715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33210" y="3470910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20902" y="3589496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关键经验总结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26618" y="387619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安全审计 · 短信链路 · 打包踩坑 · 标准库力量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762500"/>
            <a:ext cx="11049000" cy="433388"/>
            <a:chOff x="571500" y="4762500"/>
            <a:chExt cx="11049000" cy="433388"/>
          </a:xfrm>
        </p:grpSpPr>
        <p:sp>
          <p:nvSpPr>
            <p:cNvPr id="44" name="Rectangle 44"/>
            <p:cNvSpPr/>
            <p:nvPr/>
          </p:nvSpPr>
          <p:spPr>
            <a:xfrm>
              <a:off x="571500" y="4762500"/>
              <a:ext cx="11049000" cy="9525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59054" y="4982528"/>
              <a:ext cx="4473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从一个真实的断电痛点出发，走完一个完整独立项目的全生命周期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31" grpId="0"/>
      <p:bldP spid="37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7171">
                  <a:alpha val="5000"/>
                </a:srgbClr>
              </a:gs>
              <a:gs pos="100000">
                <a:srgbClr val="F8717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52438"/>
            <a:ext cx="5120485" cy="561974"/>
            <a:chOff x="571500" y="452438"/>
            <a:chExt cx="5120485" cy="561974"/>
          </a:xfrm>
        </p:grpSpPr>
        <p:sp>
          <p:nvSpPr>
            <p:cNvPr id="4" name="Rectangle 4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87171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52475" y="452438"/>
              <a:ext cx="49395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实际问题：电费耗尽 → 突然断电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7715" y="801052"/>
              <a:ext cx="4581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一个真实的痛点 —— 不是因为懒，是因为根本不知道什么时候会断电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1285875"/>
            <a:ext cx="5334000" cy="3238500"/>
            <a:chOff x="571500" y="1285875"/>
            <a:chExt cx="5334000" cy="3238500"/>
          </a:xfrm>
        </p:grpSpPr>
        <p:sp>
          <p:nvSpPr>
            <p:cNvPr id="8" name="Rectangle 8"/>
            <p:cNvSpPr/>
            <p:nvPr/>
          </p:nvSpPr>
          <p:spPr>
            <a:xfrm>
              <a:off x="571500" y="1285875"/>
              <a:ext cx="5334000" cy="3238500"/>
            </a:xfrm>
            <a:prstGeom prst="roundRect">
              <a:avLst>
                <a:gd name="adj" fmla="val 4118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200150" y="1726882"/>
              <a:ext cx="3449240" cy="551974"/>
              <a:chOff x="1200150" y="1726882"/>
              <a:chExt cx="3449240" cy="551974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1200150" y="1743075"/>
                <a:ext cx="342900" cy="314325"/>
                <a:chOff x="1200150" y="1743075"/>
                <a:chExt cx="342900" cy="31432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00150" y="1743075"/>
                  <a:ext cx="3429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2286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23850" y="0"/>
                      </a:lnTo>
                      <a:cubicBezTo>
                        <a:pt x="334371" y="0"/>
                        <a:pt x="342900" y="8529"/>
                        <a:pt x="342900" y="19050"/>
                      </a:cubicBezTo>
                      <a:lnTo>
                        <a:pt x="342900" y="209550"/>
                      </a:lnTo>
                      <a:cubicBezTo>
                        <a:pt x="342900" y="220071"/>
                        <a:pt x="334371" y="228600"/>
                        <a:pt x="323850" y="228600"/>
                      </a:cubicBezTo>
                      <a:lnTo>
                        <a:pt x="19050" y="228600"/>
                      </a:lnTo>
                      <a:cubicBezTo>
                        <a:pt x="8529" y="228600"/>
                        <a:pt x="0" y="220071"/>
                        <a:pt x="0" y="2095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76350" y="2047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14450" y="1971675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428750" y="1971675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2205418" y="1726882"/>
                <a:ext cx="20661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87171"/>
                    </a:solidFill>
                    <a:latin typeface="Arial"/>
                    <a:ea typeface="Microsoft YaHei"/>
                    <a:cs typeface="Arial"/>
                  </a:rPr>
                  <a:t>台式电脑差点挂掉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27609" y="2050256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正在工作时突然断电，硬盘有坏道风险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52500" y="2524125"/>
              <a:ext cx="4572000" cy="533400"/>
              <a:chOff x="952500" y="2524125"/>
              <a:chExt cx="4572000" cy="533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52500" y="2524125"/>
                <a:ext cx="4572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0B1120"/>
              </a:solidFill>
              <a:ln w="9525">
                <a:solidFill>
                  <a:srgbClr val="F87171">
                    <a:alpha val="20000"/>
                  </a:srgbClr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216819" y="2759869"/>
                <a:ext cx="157162" cy="157162"/>
                <a:chOff x="1216819" y="2759869"/>
                <a:chExt cx="157162" cy="157162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6819" y="2759869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0"/>
                      </a:moveTo>
                      <a:lnTo>
                        <a:pt x="157162" y="157162"/>
                      </a:lnTo>
                    </a:path>
                  </a:pathLst>
                </a:custGeom>
                <a:noFill/>
                <a:ln w="19050">
                  <a:solidFill>
                    <a:srgbClr val="F8717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34281" y="2759869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89164" y="106609"/>
                      </a:moveTo>
                      <a:lnTo>
                        <a:pt x="52388" y="157162"/>
                      </a:lnTo>
                      <a:lnTo>
                        <a:pt x="52388" y="96044"/>
                      </a:lnTo>
                      <a:lnTo>
                        <a:pt x="0" y="96044"/>
                      </a:lnTo>
                      <a:lnTo>
                        <a:pt x="33091" y="50554"/>
                      </a:lnTo>
                      <a:moveTo>
                        <a:pt x="47804" y="30297"/>
                      </a:moveTo>
                      <a:lnTo>
                        <a:pt x="69850" y="0"/>
                      </a:lnTo>
                      <a:lnTo>
                        <a:pt x="69850" y="52388"/>
                      </a:lnTo>
                      <a:moveTo>
                        <a:pt x="78581" y="61119"/>
                      </a:moveTo>
                      <a:lnTo>
                        <a:pt x="122237" y="61119"/>
                      </a:lnTo>
                      <a:lnTo>
                        <a:pt x="103867" y="86378"/>
                      </a:lnTo>
                    </a:path>
                  </a:pathLst>
                </a:custGeom>
                <a:noFill/>
                <a:ln w="19050">
                  <a:solidFill>
                    <a:srgbClr val="F8717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508760" y="26612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87171"/>
                    </a:solidFill>
                    <a:latin typeface="Arial"/>
                    <a:ea typeface="Microsoft YaHei"/>
                    <a:cs typeface="Arial"/>
                  </a:rPr>
                  <a:t>毫无预警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462212" y="2669381"/>
                <a:ext cx="24931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余额用完直接拉闸，没有任何提醒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52500" y="3143250"/>
              <a:ext cx="4572000" cy="533400"/>
              <a:chOff x="952500" y="3143250"/>
              <a:chExt cx="4572000" cy="533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52500" y="3143250"/>
                <a:ext cx="4572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0B1120"/>
              </a:solidFill>
              <a:ln w="9525">
                <a:solidFill>
                  <a:srgbClr val="1E293B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216819" y="3378994"/>
                <a:ext cx="157162" cy="157162"/>
                <a:chOff x="1216819" y="3378994"/>
                <a:chExt cx="157162" cy="15716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216819" y="337899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95400" y="3413919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508760" y="32804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完全被动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462212" y="3288506"/>
                <a:ext cx="26574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不知道还剩多少电费，无法提前充值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52500" y="3762375"/>
              <a:ext cx="4572000" cy="533400"/>
              <a:chOff x="952500" y="3762375"/>
              <a:chExt cx="4572000" cy="5334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52500" y="3762375"/>
                <a:ext cx="4572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0B1120"/>
              </a:solidFill>
              <a:ln w="9525">
                <a:solidFill>
                  <a:srgbClr val="1E293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207344" y="3995218"/>
                <a:ext cx="176105" cy="151297"/>
                <a:chOff x="1207344" y="3995218"/>
                <a:chExt cx="176105" cy="151297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295400" y="405050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F8717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07344" y="3995218"/>
                  <a:ext cx="176105" cy="151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05" h="151297">
                      <a:moveTo>
                        <a:pt x="73763" y="8061"/>
                      </a:moveTo>
                      <a:lnTo>
                        <a:pt x="2987" y="126230"/>
                      </a:lnTo>
                      <a:cubicBezTo>
                        <a:pt x="18" y="131371"/>
                        <a:pt x="0" y="137702"/>
                        <a:pt x="2939" y="142860"/>
                      </a:cubicBezTo>
                      <a:cubicBezTo>
                        <a:pt x="5879" y="148019"/>
                        <a:pt x="11335" y="151230"/>
                        <a:pt x="17271" y="151297"/>
                      </a:cubicBezTo>
                      <a:lnTo>
                        <a:pt x="158840" y="151297"/>
                      </a:lnTo>
                      <a:cubicBezTo>
                        <a:pt x="164774" y="151229"/>
                        <a:pt x="170227" y="148018"/>
                        <a:pt x="173166" y="142863"/>
                      </a:cubicBezTo>
                      <a:cubicBezTo>
                        <a:pt x="176105" y="137707"/>
                        <a:pt x="176089" y="131379"/>
                        <a:pt x="173124" y="126238"/>
                      </a:cubicBezTo>
                      <a:lnTo>
                        <a:pt x="102349" y="8052"/>
                      </a:lnTo>
                      <a:cubicBezTo>
                        <a:pt x="99320" y="3053"/>
                        <a:pt x="93900" y="0"/>
                        <a:pt x="88056" y="0"/>
                      </a:cubicBezTo>
                      <a:cubicBezTo>
                        <a:pt x="82211" y="0"/>
                        <a:pt x="76791" y="3053"/>
                        <a:pt x="73763" y="8052"/>
                      </a:cubicBezTo>
                    </a:path>
                  </a:pathLst>
                </a:custGeom>
                <a:noFill/>
                <a:ln w="19050">
                  <a:solidFill>
                    <a:srgbClr val="F8717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295400" y="41116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" y="0"/>
                      </a:lnTo>
                    </a:path>
                  </a:pathLst>
                </a:custGeom>
                <a:noFill/>
                <a:ln w="19050">
                  <a:solidFill>
                    <a:srgbClr val="F8717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508760" y="38995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硬件风险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462212" y="3907631"/>
                <a:ext cx="26574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台式机突然断电可能损坏硬盘和电源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286500" y="1285875"/>
            <a:ext cx="5334000" cy="3238500"/>
            <a:chOff x="6286500" y="1285875"/>
            <a:chExt cx="5334000" cy="3238500"/>
          </a:xfrm>
        </p:grpSpPr>
        <p:sp>
          <p:nvSpPr>
            <p:cNvPr id="40" name="Rectangle 40"/>
            <p:cNvSpPr/>
            <p:nvPr/>
          </p:nvSpPr>
          <p:spPr>
            <a:xfrm>
              <a:off x="6286500" y="1285875"/>
              <a:ext cx="5334000" cy="3238500"/>
            </a:xfrm>
            <a:prstGeom prst="roundRect">
              <a:avLst>
                <a:gd name="adj" fmla="val 4118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44364" y="1504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真实场景还原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67500" y="1857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7500" y="2047875"/>
              <a:ext cx="2244090" cy="333375"/>
              <a:chOff x="6667500" y="2047875"/>
              <a:chExt cx="2244090" cy="333375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667500" y="2047875"/>
                <a:ext cx="3048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779734" y="2135981"/>
                <a:ext cx="80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1120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128510" y="2137410"/>
                <a:ext cx="17830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正常用电，不知道余额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6819900" y="235267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67500" y="2495550"/>
              <a:ext cx="2068830" cy="333375"/>
              <a:chOff x="6667500" y="2495550"/>
              <a:chExt cx="2068830" cy="333375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667500" y="2495550"/>
                <a:ext cx="3048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F8717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58169" y="258365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1120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128510" y="2585085"/>
                <a:ext cx="160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余额耗尽，瞬间断电</a:t>
                </a:r>
              </a:p>
            </p:txBody>
          </p:sp>
        </p:grpSp>
        <p:sp>
          <p:nvSpPr>
            <p:cNvPr id="52" name="Line 52"/>
            <p:cNvSpPr/>
            <p:nvPr/>
          </p:nvSpPr>
          <p:spPr>
            <a:xfrm>
              <a:off x="6819900" y="28003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7500" y="2943225"/>
              <a:ext cx="3120390" cy="333375"/>
              <a:chOff x="6667500" y="2943225"/>
              <a:chExt cx="3120390" cy="333375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667500" y="2943225"/>
                <a:ext cx="3048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F8717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758169" y="3031331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1120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128510" y="3032760"/>
                <a:ext cx="26593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台式机工作中，硬盘遭遇异常断电</a:t>
                </a:r>
              </a:p>
            </p:txBody>
          </p:sp>
        </p:grpSp>
        <p:sp>
          <p:nvSpPr>
            <p:cNvPr id="57" name="Line 57"/>
            <p:cNvSpPr/>
            <p:nvPr/>
          </p:nvSpPr>
          <p:spPr>
            <a:xfrm>
              <a:off x="6819900" y="324802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7500" y="3390900"/>
              <a:ext cx="2147697" cy="333375"/>
              <a:chOff x="6667500" y="3390900"/>
              <a:chExt cx="2147697" cy="333375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6667500" y="3390900"/>
                <a:ext cx="3048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34D399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758169" y="347900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1120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128510" y="3480435"/>
                <a:ext cx="1686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D399"/>
                    </a:solidFill>
                    <a:latin typeface="Arial"/>
                    <a:ea typeface="Microsoft YaHei"/>
                    <a:cs typeface="Arial"/>
                  </a:rPr>
                  <a:t>教训：必须主动监控</a:t>
                </a:r>
              </a:p>
            </p:txBody>
          </p:sp>
        </p:grpSp>
        <p:sp>
          <p:nvSpPr>
            <p:cNvPr id="62" name="Rectangle 62"/>
            <p:cNvSpPr/>
            <p:nvPr/>
          </p:nvSpPr>
          <p:spPr>
            <a:xfrm>
              <a:off x="6667500" y="3857625"/>
              <a:ext cx="4572000" cy="476250"/>
            </a:xfrm>
            <a:prstGeom prst="roundRect">
              <a:avLst>
                <a:gd name="adj" fmla="val 16000"/>
              </a:avLst>
            </a:prstGeom>
            <a:solidFill>
              <a:srgbClr val="F87171">
                <a:alpha val="6000"/>
              </a:srgbClr>
            </a:solidFill>
            <a:ln w="9525">
              <a:solidFill>
                <a:srgbClr val="F87171">
                  <a:alpha val="15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22770" y="4023360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2E8F0"/>
                  </a:solidFill>
                  <a:latin typeface="Georgia"/>
                  <a:ea typeface="Microsoft YaHei"/>
                  <a:cs typeface="Georgia"/>
                </a:rPr>
                <a:t>差点废掉一台台式机，这成了写这个软件的直接动力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4857750"/>
            <a:ext cx="11049000" cy="762000"/>
            <a:chOff x="571500" y="4857750"/>
            <a:chExt cx="11049000" cy="762000"/>
          </a:xfrm>
        </p:grpSpPr>
        <p:sp>
          <p:nvSpPr>
            <p:cNvPr id="65" name="Rectangle 65"/>
            <p:cNvSpPr/>
            <p:nvPr/>
          </p:nvSpPr>
          <p:spPr>
            <a:xfrm>
              <a:off x="571500" y="48577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38BDF8">
                  <a:alpha val="20000"/>
                </a:srgbClr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85838" y="5224462"/>
              <a:ext cx="200025" cy="200025"/>
              <a:chOff x="985838" y="5224462"/>
              <a:chExt cx="200025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985838" y="5224462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3" y="100012"/>
                    </a:lnTo>
                    <a:moveTo>
                      <a:pt x="100012" y="0"/>
                    </a:moveTo>
                    <a:lnTo>
                      <a:pt x="100012" y="11112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2"/>
                    </a:moveTo>
                    <a:lnTo>
                      <a:pt x="36671" y="36671"/>
                    </a:lnTo>
                    <a:moveTo>
                      <a:pt x="171133" y="28892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025576" y="5268912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60291" y="53800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362075" y="4962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开发动机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65885" y="5252085"/>
              <a:ext cx="7566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既然平台不提供余额不足的主动提醒，那就自己写一个。不等它断电，我来掌控什么时候该充值。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9118" y="5943124"/>
            <a:ext cx="5656636" cy="198120"/>
            <a:chOff x="559118" y="5943124"/>
            <a:chExt cx="5656636" cy="198120"/>
          </a:xfrm>
        </p:grpSpPr>
        <p:sp>
          <p:nvSpPr>
            <p:cNvPr id="73" name="TextBox 73"/>
            <p:cNvSpPr txBox="1"/>
            <p:nvPr/>
          </p:nvSpPr>
          <p:spPr>
            <a:xfrm>
              <a:off x="559118" y="5943124"/>
              <a:ext cx="565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场景：天娇苑3栋1104主卧 · 电费平台：辰域智控微信小程序 · 缴费方式：房东专用二维码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4" grpId="0"/>
      <p:bldP spid="72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4953810" cy="561974"/>
            <a:chOff x="571500" y="452438"/>
            <a:chExt cx="4953810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41976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需求背景：出租屋电费监控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47575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天娇苑 3栋1104 主卧 · 微信小程序「辰域智控」· 房东专用二维码缴费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1238250"/>
            <a:ext cx="3429000" cy="4762500"/>
            <a:chOff x="571500" y="123825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3429000" cy="4762500"/>
            </a:xfrm>
            <a:prstGeom prst="roundRect">
              <a:avLst>
                <a:gd name="adj" fmla="val 4444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924050" y="1685925"/>
              <a:ext cx="400050" cy="400050"/>
              <a:chOff x="1924050" y="1685925"/>
              <a:chExt cx="400050" cy="4000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924050" y="1685925"/>
                <a:ext cx="4000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00025">
                    <a:moveTo>
                      <a:pt x="44450" y="200025"/>
                    </a:moveTo>
                    <a:lnTo>
                      <a:pt x="0" y="200025"/>
                    </a:lnTo>
                    <a:lnTo>
                      <a:pt x="200025" y="0"/>
                    </a:lnTo>
                    <a:lnTo>
                      <a:pt x="400050" y="200025"/>
                    </a:lnTo>
                    <a:lnTo>
                      <a:pt x="355600" y="20002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68500" y="1885950"/>
                <a:ext cx="311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00025">
                    <a:moveTo>
                      <a:pt x="0" y="0"/>
                    </a:moveTo>
                    <a:lnTo>
                      <a:pt x="0" y="155575"/>
                    </a:lnTo>
                    <a:cubicBezTo>
                      <a:pt x="0" y="180124"/>
                      <a:pt x="19901" y="200025"/>
                      <a:pt x="44450" y="200025"/>
                    </a:cubicBezTo>
                    <a:lnTo>
                      <a:pt x="266700" y="200025"/>
                    </a:lnTo>
                    <a:cubicBezTo>
                      <a:pt x="291249" y="200025"/>
                      <a:pt x="311150" y="180124"/>
                      <a:pt x="311150" y="155575"/>
                    </a:cubicBezTo>
                    <a:lnTo>
                      <a:pt x="31115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57400" y="1908175"/>
                <a:ext cx="1333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0">
                    <a:moveTo>
                      <a:pt x="0" y="1778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17780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691878" y="2314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出租屋场景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40086" y="264890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天娇苑3栋1104主卧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30480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90600" y="3324225"/>
              <a:ext cx="161925" cy="161925"/>
              <a:chOff x="990600" y="3324225"/>
              <a:chExt cx="161925" cy="1619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90600" y="33242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19175" y="344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85850" y="33242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9175" y="335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90600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14425" y="335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85850" y="34194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43000" y="3419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85850" y="34194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85850" y="34766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14425" y="3448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43000" y="344805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81112" y="33456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微信扫码缴费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83018" y="35713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房东提供专用二维码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000125" y="398145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76200" y="0"/>
                  </a:moveTo>
                  <a:lnTo>
                    <a:pt x="76200" y="66675"/>
                  </a:lnTo>
                  <a:lnTo>
                    <a:pt x="133350" y="66675"/>
                  </a:lnTo>
                  <a:lnTo>
                    <a:pt x="57150" y="171450"/>
                  </a:lnTo>
                  <a:lnTo>
                    <a:pt x="57150" y="104775"/>
                  </a:lnTo>
                  <a:lnTo>
                    <a:pt x="0" y="104775"/>
                  </a:ln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34D3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81112" y="4012406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定时查询电费/电量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3018" y="42381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低于阈值时自动告警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009650" y="4648200"/>
              <a:ext cx="114300" cy="171450"/>
              <a:chOff x="1009650" y="4648200"/>
              <a:chExt cx="114300" cy="1714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09650" y="4648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52400"/>
                    </a:lnTo>
                    <a:cubicBezTo>
                      <a:pt x="114300" y="162921"/>
                      <a:pt x="105771" y="171450"/>
                      <a:pt x="952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57275" y="46577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66800" y="4781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81112" y="46791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短信通知到手机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83018" y="490489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13996926630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60545" y="1298258"/>
            <a:ext cx="1054036" cy="335280"/>
            <a:chOff x="4360545" y="1298258"/>
            <a:chExt cx="1054036" cy="335280"/>
          </a:xfrm>
        </p:grpSpPr>
        <p:sp>
          <p:nvSpPr>
            <p:cNvPr id="40" name="TextBox 40"/>
            <p:cNvSpPr txBox="1"/>
            <p:nvPr/>
          </p:nvSpPr>
          <p:spPr>
            <a:xfrm>
              <a:off x="4360545" y="12982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核心约束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81500" y="1600200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381500" y="1857375"/>
            <a:ext cx="7239000" cy="571500"/>
            <a:chOff x="4381500" y="1857375"/>
            <a:chExt cx="7239000" cy="571500"/>
          </a:xfrm>
        </p:grpSpPr>
        <p:sp>
          <p:nvSpPr>
            <p:cNvPr id="43" name="Rectangle 43"/>
            <p:cNvSpPr/>
            <p:nvPr/>
          </p:nvSpPr>
          <p:spPr>
            <a:xfrm>
              <a:off x="4381500" y="1857375"/>
              <a:ext cx="7239000" cy="571500"/>
            </a:xfrm>
            <a:prstGeom prst="roundRect">
              <a:avLst>
                <a:gd name="adj" fmla="val 16667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685489" y="2054236"/>
              <a:ext cx="192114" cy="165051"/>
              <a:chOff x="4685489" y="2054236"/>
              <a:chExt cx="192114" cy="16505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781550" y="21145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85489" y="2054236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81550" y="2181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031105" y="20831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不能依赖手机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7010" y="2099310"/>
              <a:ext cx="25892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程序独立在 Windows 上自主运行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81500" y="2524125"/>
            <a:ext cx="7239000" cy="571500"/>
            <a:chOff x="4381500" y="2524125"/>
            <a:chExt cx="7239000" cy="571500"/>
          </a:xfrm>
        </p:grpSpPr>
        <p:sp>
          <p:nvSpPr>
            <p:cNvPr id="51" name="Rectangle 51"/>
            <p:cNvSpPr/>
            <p:nvPr/>
          </p:nvSpPr>
          <p:spPr>
            <a:xfrm>
              <a:off x="4381500" y="2524125"/>
              <a:ext cx="7239000" cy="571500"/>
            </a:xfrm>
            <a:prstGeom prst="roundRect">
              <a:avLst>
                <a:gd name="adj" fmla="val 16667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4685489" y="2720986"/>
              <a:ext cx="192114" cy="165051"/>
              <a:chOff x="4685489" y="2720986"/>
              <a:chExt cx="192114" cy="16505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781550" y="27813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685489" y="2720986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781550" y="2847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031105" y="27498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不能依赖微信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57010" y="276606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绕过微信 OAuth 认证体系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381500" y="3190875"/>
            <a:ext cx="7239000" cy="571500"/>
            <a:chOff x="4381500" y="3190875"/>
            <a:chExt cx="723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4381500" y="3190875"/>
              <a:ext cx="7239000" cy="571500"/>
            </a:xfrm>
            <a:prstGeom prst="roundRect">
              <a:avLst>
                <a:gd name="adj" fmla="val 16667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4685489" y="3387736"/>
              <a:ext cx="192114" cy="165051"/>
              <a:chOff x="4685489" y="3387736"/>
              <a:chExt cx="192114" cy="16505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4781550" y="34480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685489" y="3387736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781550" y="3514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5031105" y="34166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不能依赖人工扫码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57010" y="34328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全自动定时任务，无需任何人工干预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360545" y="4012882"/>
            <a:ext cx="7259955" cy="1225868"/>
            <a:chOff x="4360545" y="4012882"/>
            <a:chExt cx="7259955" cy="1225868"/>
          </a:xfrm>
        </p:grpSpPr>
        <p:sp>
          <p:nvSpPr>
            <p:cNvPr id="67" name="TextBox 67"/>
            <p:cNvSpPr txBox="1"/>
            <p:nvPr/>
          </p:nvSpPr>
          <p:spPr>
            <a:xfrm>
              <a:off x="4360545" y="40128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381500" y="4314825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381500" y="4476750"/>
              <a:ext cx="7239000" cy="762000"/>
            </a:xfrm>
            <a:prstGeom prst="roundRect">
              <a:avLst>
                <a:gd name="adj" fmla="val 125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4722812" y="482123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2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19050">
              <a:solidFill>
                <a:srgbClr val="34D399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031105" y="4664392"/>
              <a:ext cx="5334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Windows 后台脚本 → 自动定时查询 → 低于阈值发短信告警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034915" y="49539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告警走短信，不走弹窗（弹窗没人看）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6191250"/>
            <a:ext cx="11049000" cy="342900"/>
            <a:chOff x="571500" y="6191250"/>
            <a:chExt cx="11049000" cy="342900"/>
          </a:xfrm>
        </p:grpSpPr>
        <p:sp>
          <p:nvSpPr>
            <p:cNvPr id="74" name="Rectangle 74"/>
            <p:cNvSpPr/>
            <p:nvPr/>
          </p:nvSpPr>
          <p:spPr>
            <a:xfrm>
              <a:off x="571500" y="6191250"/>
              <a:ext cx="11049000" cy="342900"/>
            </a:xfrm>
            <a:prstGeom prst="roundRect">
              <a:avLst>
                <a:gd name="adj" fmla="val 22222"/>
              </a:avLst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023283" y="6296978"/>
              <a:ext cx="6145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核心挑战：在一个完全封闭的微信生态中，实现独立、自主、零人工干预的自动化监控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50" grpId="0"/>
      <p:bldP spid="58" grpId="0"/>
      <p:bldP spid="66" grpId="0"/>
      <p:bldP spid="73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5948589" cy="561974"/>
            <a:chOff x="571500" y="452438"/>
            <a:chExt cx="5948589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576761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核心难题：如何绕过微信 OAuth 认证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4933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平台：辰域智控 (www.wap.cnyiot.com) · ASP.NET 后端 · HTTP 明文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1219200"/>
            <a:ext cx="11049000" cy="1066800"/>
            <a:chOff x="571500" y="1219200"/>
            <a:chExt cx="11049000" cy="1066800"/>
          </a:xfrm>
        </p:grpSpPr>
        <p:sp>
          <p:nvSpPr>
            <p:cNvPr id="7" name="TextBox 7"/>
            <p:cNvSpPr txBox="1"/>
            <p:nvPr/>
          </p:nvSpPr>
          <p:spPr>
            <a:xfrm>
              <a:off x="4553010" y="1219200"/>
              <a:ext cx="30859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正常流程（需要微信 OAuth）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22860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47725" y="1895475"/>
              <a:ext cx="161925" cy="161925"/>
              <a:chOff x="847725" y="1895475"/>
              <a:chExt cx="161925" cy="1619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7725" y="1895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6300" y="2019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2975" y="1895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6300" y="192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47725" y="1990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1550" y="192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42975" y="19907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0125" y="199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42975" y="19907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42975" y="20478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71550" y="20193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0125" y="20193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28712" y="1878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微信扫码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570" y="20745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房东专用二维码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857500" y="1952625"/>
              <a:ext cx="619125" cy="1"/>
            </a:xfrm>
            <a:prstGeom prst="line">
              <a:avLst/>
            </a:prstGeom>
            <a:noFill/>
            <a:ln w="19050">
              <a:gradFill>
                <a:gsLst>
                  <a:gs pos="0">
                    <a:srgbClr val="38BDF8">
                      <a:alpha val="30000"/>
                    </a:srgbClr>
                  </a:gs>
                  <a:gs pos="100000">
                    <a:srgbClr val="38BDF8">
                      <a:alpha val="60000"/>
                    </a:srgbClr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24250" y="1619250"/>
              <a:ext cx="2476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44387" y="17835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微信浏览器打开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8718" y="2045970"/>
              <a:ext cx="1087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触发 snsapi_base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00750" y="1952625"/>
              <a:ext cx="619125" cy="1"/>
            </a:xfrm>
            <a:prstGeom prst="line">
              <a:avLst/>
            </a:prstGeom>
            <a:noFill/>
            <a:ln w="19050">
              <a:gradFill>
                <a:gsLst>
                  <a:gs pos="0">
                    <a:srgbClr val="38BDF8">
                      <a:alpha val="30000"/>
                    </a:srgbClr>
                  </a:gs>
                  <a:gs pos="100000">
                    <a:srgbClr val="38BDF8">
                      <a:alpha val="60000"/>
                    </a:srgbClr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0" y="1619250"/>
              <a:ext cx="22860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F8717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953250" y="1885950"/>
              <a:ext cx="133350" cy="171450"/>
              <a:chOff x="6953250" y="1885950"/>
              <a:chExt cx="133350" cy="1714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953250" y="1962150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10400" y="20002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81825" y="1885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24712" y="187880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OAuth 回调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27570" y="2074545"/>
              <a:ext cx="16856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code=xxx &amp; state=METERID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953500" y="1952625"/>
              <a:ext cx="619125" cy="1"/>
            </a:xfrm>
            <a:prstGeom prst="line">
              <a:avLst/>
            </a:prstGeom>
            <a:noFill/>
            <a:ln w="19050">
              <a:gradFill>
                <a:gsLst>
                  <a:gs pos="0">
                    <a:srgbClr val="38BDF8">
                      <a:alpha val="30000"/>
                    </a:srgbClr>
                  </a:gs>
                  <a:gs pos="100000">
                    <a:srgbClr val="38BDF8">
                      <a:alpha val="60000"/>
                    </a:srgbClr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20250" y="1619250"/>
              <a:ext cx="200025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88523" y="17835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返回电费页面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1749" y="2045970"/>
              <a:ext cx="877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一次性的 code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571500" y="2714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1143000" y="2886075"/>
            <a:ext cx="9906000" cy="876300"/>
            <a:chOff x="1143000" y="2886075"/>
            <a:chExt cx="9906000" cy="876300"/>
          </a:xfrm>
        </p:grpSpPr>
        <p:sp>
          <p:nvSpPr>
            <p:cNvPr id="42" name="TextBox 42"/>
            <p:cNvSpPr txBox="1"/>
            <p:nvPr/>
          </p:nvSpPr>
          <p:spPr>
            <a:xfrm>
              <a:off x="4995815" y="2886075"/>
              <a:ext cx="22003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mitmproxy 抓包发现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43000" y="3286125"/>
              <a:ext cx="9906000" cy="476250"/>
            </a:xfrm>
            <a:prstGeom prst="roundRect">
              <a:avLst>
                <a:gd name="adj" fmla="val 16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658809" y="3451860"/>
              <a:ext cx="68743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4D399"/>
                  </a:solidFill>
                  <a:latin typeface="Consolas"/>
                  <a:ea typeface="Microsoft YaHei"/>
                  <a:cs typeface="Consolas"/>
                </a:rPr>
                <a:t>GET /nat/pay.aspx?code=081GpvGa1OEXJL07ZhGa1NosEw4GpvGY&amp;state=19500815873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3000" y="3933825"/>
            <a:ext cx="9906000" cy="1304925"/>
            <a:chOff x="1143000" y="3933825"/>
            <a:chExt cx="9906000" cy="1304925"/>
          </a:xfrm>
        </p:grpSpPr>
        <p:sp>
          <p:nvSpPr>
            <p:cNvPr id="46" name="TextBox 46"/>
            <p:cNvSpPr txBox="1"/>
            <p:nvPr/>
          </p:nvSpPr>
          <p:spPr>
            <a:xfrm>
              <a:off x="5616892" y="3933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关键观察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43000" y="4286250"/>
              <a:ext cx="9906000" cy="952500"/>
            </a:xfrm>
            <a:prstGeom prst="roundRect">
              <a:avLst>
                <a:gd name="adj" fmla="val 10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1462088" y="4652962"/>
              <a:ext cx="200025" cy="200025"/>
              <a:chOff x="1462088" y="4652962"/>
              <a:chExt cx="200025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462088" y="4652962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2" y="100012"/>
                    </a:lnTo>
                    <a:moveTo>
                      <a:pt x="100012" y="0"/>
                    </a:moveTo>
                    <a:lnTo>
                      <a:pt x="100012" y="11113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501826" y="4697412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536541" y="48085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841182" y="4434364"/>
              <a:ext cx="59078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code 是微信 OAuth 返回的一次性授权码，每次扫码不同，无法复用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42135" y="4728210"/>
              <a:ext cx="43068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返回的 HTML 中包含电费信息（95.72元、119.65kWh）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42135" y="4966335"/>
              <a:ext cx="41228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state 参数的值 19500815873 看起来像是一个电表 ID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5619750"/>
            <a:ext cx="11049000" cy="400050"/>
            <a:chOff x="571500" y="5619750"/>
            <a:chExt cx="11049000" cy="400050"/>
          </a:xfrm>
        </p:grpSpPr>
        <p:sp>
          <p:nvSpPr>
            <p:cNvPr id="56" name="Rectangle 56"/>
            <p:cNvSpPr/>
            <p:nvPr/>
          </p:nvSpPr>
          <p:spPr>
            <a:xfrm>
              <a:off x="571500" y="5619750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81062" y="5757862"/>
              <a:ext cx="142875" cy="142875"/>
              <a:chOff x="881062" y="5757862"/>
              <a:chExt cx="142875" cy="14287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81062" y="5757862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76312" y="58531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128712" y="5745956"/>
              <a:ext cx="56010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突破口：如果 state 是电表 ID，是否存在不需要 code 就能查询的方式？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5" grpId="0"/>
      <p:bldP spid="55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32521" y="328612"/>
            <a:ext cx="2326958" cy="561976"/>
            <a:chOff x="4932521" y="328612"/>
            <a:chExt cx="2326958" cy="561976"/>
          </a:xfrm>
        </p:grpSpPr>
        <p:sp>
          <p:nvSpPr>
            <p:cNvPr id="4" name="TextBox 4"/>
            <p:cNvSpPr txBox="1"/>
            <p:nvPr/>
          </p:nvSpPr>
          <p:spPr>
            <a:xfrm>
              <a:off x="5377339" y="32861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932521" y="67722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一个参数名的变换，绕过全部认证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1238250"/>
            <a:ext cx="4762500" cy="1905000"/>
            <a:chOff x="952500" y="1238250"/>
            <a:chExt cx="4762500" cy="1905000"/>
          </a:xfrm>
        </p:grpSpPr>
        <p:sp>
          <p:nvSpPr>
            <p:cNvPr id="7" name="Rectangle 7"/>
            <p:cNvSpPr/>
            <p:nvPr/>
          </p:nvSpPr>
          <p:spPr>
            <a:xfrm>
              <a:off x="952500" y="1238250"/>
              <a:ext cx="4762500" cy="1905000"/>
            </a:xfrm>
            <a:prstGeom prst="roundRect">
              <a:avLst>
                <a:gd name="adj" fmla="val 8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238250"/>
              <a:ext cx="4762500" cy="381000"/>
            </a:xfrm>
            <a:prstGeom prst="roundRect">
              <a:avLst>
                <a:gd name="adj" fmla="val 40000"/>
              </a:avLst>
            </a:prstGeom>
            <a:solidFill>
              <a:srgbClr val="F87171">
                <a:alpha val="12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466850"/>
              <a:ext cx="4762500" cy="152400"/>
            </a:xfrm>
            <a:prstGeom prst="rect">
              <a:avLst/>
            </a:prstGeom>
            <a:solidFill>
              <a:srgbClr val="F87171">
                <a:alpha val="1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96470" y="1365885"/>
              <a:ext cx="6745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BEFORE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389062" y="1890712"/>
              <a:ext cx="155575" cy="200025"/>
              <a:chOff x="1389062" y="1890712"/>
              <a:chExt cx="155575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389062" y="1979612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55738" y="2024062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22400" y="1890712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699260" y="1918335"/>
              <a:ext cx="1787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需要微信 OAuth 认证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0165" y="226790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pay.aspx?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0165" y="2506028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code=081GpvGa1OEX...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274415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&amp;state=19500815873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2070" y="29508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每次扫码不同，无法复用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10250" y="1868805"/>
            <a:ext cx="571500" cy="426720"/>
            <a:chOff x="5810250" y="1868805"/>
            <a:chExt cx="571500" cy="426720"/>
          </a:xfrm>
        </p:grpSpPr>
        <p:sp>
          <p:nvSpPr>
            <p:cNvPr id="21" name="Line 21"/>
            <p:cNvSpPr/>
            <p:nvPr/>
          </p:nvSpPr>
          <p:spPr>
            <a:xfrm>
              <a:off x="5810250" y="2190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  <a:custDash>
                <a:ds d="300000" sp="20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80769" y="1868805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34D399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77000" y="1238250"/>
            <a:ext cx="4762500" cy="1905000"/>
            <a:chOff x="6477000" y="1238250"/>
            <a:chExt cx="47625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477000" y="1238250"/>
              <a:ext cx="4762500" cy="1905000"/>
            </a:xfrm>
            <a:prstGeom prst="roundRect">
              <a:avLst>
                <a:gd name="adj" fmla="val 8000"/>
              </a:avLst>
            </a:prstGeom>
            <a:solidFill>
              <a:srgbClr val="131B2E"/>
            </a:solidFill>
            <a:ln w="14288">
              <a:solidFill>
                <a:srgbClr val="34D3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7000" y="1238250"/>
              <a:ext cx="4762500" cy="381000"/>
            </a:xfrm>
            <a:prstGeom prst="roundRect">
              <a:avLst>
                <a:gd name="adj" fmla="val 40000"/>
              </a:avLst>
            </a:prstGeom>
            <a:solidFill>
              <a:srgbClr val="34D399">
                <a:alpha val="12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7000" y="1466850"/>
              <a:ext cx="4762500" cy="152400"/>
            </a:xfrm>
            <a:prstGeom prst="rect">
              <a:avLst/>
            </a:prstGeom>
            <a:solidFill>
              <a:srgbClr val="34D399">
                <a:alpha val="12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89978" y="1365885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AFTER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913562" y="1879600"/>
              <a:ext cx="155575" cy="211137"/>
              <a:chOff x="6913562" y="1879600"/>
              <a:chExt cx="155575" cy="21113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13562" y="1979612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80238" y="2024062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6900" y="1879600"/>
                <a:ext cx="889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0012">
                    <a:moveTo>
                      <a:pt x="0" y="100012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223760" y="19183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无需任何认证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4665" y="226790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pay.aspx?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44665" y="2506028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4D399"/>
                  </a:solidFill>
                  <a:latin typeface="Consolas"/>
                  <a:ea typeface="Microsoft YaHei"/>
                  <a:cs typeface="Consolas"/>
                </a:rPr>
                <a:t>mid=19500815873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46570" y="295084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无需 Cookie，无需认证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24000" y="3536632"/>
            <a:ext cx="9144000" cy="1559243"/>
            <a:chOff x="1524000" y="3536632"/>
            <a:chExt cx="9144000" cy="1559243"/>
          </a:xfrm>
        </p:grpSpPr>
        <p:sp>
          <p:nvSpPr>
            <p:cNvPr id="37" name="TextBox 37"/>
            <p:cNvSpPr txBox="1"/>
            <p:nvPr/>
          </p:nvSpPr>
          <p:spPr>
            <a:xfrm>
              <a:off x="4911100" y="3536632"/>
              <a:ext cx="23698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为什么 mid 能工作？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524000" y="3952875"/>
              <a:ext cx="9144000" cy="1143000"/>
            </a:xfrm>
            <a:prstGeom prst="roundRect">
              <a:avLst>
                <a:gd name="adj" fmla="val 10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67350" y="4109085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推测后端逻辑：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11454" y="4374356"/>
              <a:ext cx="4169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pay.aspx?code → 微信 OAuth 换取 openid，再关联电表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30999" y="4602956"/>
              <a:ext cx="5730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pay.aspx?mid → 直接按电表 ID 查询（可能是内部/调试接口，未做权限校验）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18836" y="4866799"/>
              <a:ext cx="4154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这种「隐藏接口无需鉴权」的情况在国内小型 IoT 平台中并不少见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2500" y="5476875"/>
            <a:ext cx="10287000" cy="571500"/>
            <a:chOff x="952500" y="5476875"/>
            <a:chExt cx="10287000" cy="571500"/>
          </a:xfrm>
        </p:grpSpPr>
        <p:sp>
          <p:nvSpPr>
            <p:cNvPr id="44" name="Rectangle 44"/>
            <p:cNvSpPr/>
            <p:nvPr/>
          </p:nvSpPr>
          <p:spPr>
            <a:xfrm>
              <a:off x="952500" y="5476875"/>
              <a:ext cx="10287000" cy="571500"/>
            </a:xfrm>
            <a:prstGeom prst="roundRect">
              <a:avLst>
                <a:gd name="adj" fmla="val 20000"/>
              </a:avLst>
            </a:prstGeom>
            <a:solidFill>
              <a:srgbClr val="34D399">
                <a:alpha val="6000"/>
              </a:srgbClr>
            </a:solidFill>
            <a:ln w="9525">
              <a:solidFill>
                <a:srgbClr val="34D399">
                  <a:alpha val="2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481996" y="5651182"/>
              <a:ext cx="72280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这就是整个项目得以成立的基石 — code → mid 一个参数名的变化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36" grpId="0"/>
      <p:bldP spid="43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5310259" cy="561974"/>
            <a:chOff x="571500" y="452438"/>
            <a:chExt cx="5310259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51292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页面解析：HTML 提取与正则踩坑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HTTP 明文返回 · 正则匹配 · 编码处理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238250"/>
            <a:ext cx="4762500" cy="4000500"/>
            <a:chOff x="571500" y="1238250"/>
            <a:chExt cx="47625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4762500" cy="4000500"/>
            </a:xfrm>
            <a:prstGeom prst="roundRect">
              <a:avLst>
                <a:gd name="adj" fmla="val 2857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4762500" cy="419100"/>
            </a:xfrm>
            <a:prstGeom prst="roundRect">
              <a:avLst>
                <a:gd name="adj" fmla="val 27273"/>
              </a:avLst>
            </a:prstGeom>
            <a:solidFill>
              <a:srgbClr val="38BDF8">
                <a:alpha val="8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04950"/>
              <a:ext cx="4762500" cy="152400"/>
            </a:xfrm>
            <a:prstGeom prst="rect">
              <a:avLst/>
            </a:prstGeom>
            <a:solidFill>
              <a:srgbClr val="38BDF8">
                <a:alpha val="8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42068" y="1378268"/>
              <a:ext cx="14213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HTML 关键字段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1857375"/>
              <a:ext cx="4191000" cy="571500"/>
            </a:xfrm>
            <a:prstGeom prst="roundRect">
              <a:avLst>
                <a:gd name="adj" fmla="val 13333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2040" y="196310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&lt;label&gt;天娇苑3栋1104主卧&lt;/label&gt;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945" y="220789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表名（含 &amp;ensp; 实体）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571750"/>
              <a:ext cx="4191000" cy="571500"/>
            </a:xfrm>
            <a:prstGeom prst="roundRect">
              <a:avLst>
                <a:gd name="adj" fmla="val 13333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82040" y="26774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&lt;label&gt;95.72&lt;/label&gt;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3945" y="29222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剩余金额（元）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3286125"/>
              <a:ext cx="4191000" cy="571500"/>
            </a:xfrm>
            <a:prstGeom prst="roundRect">
              <a:avLst>
                <a:gd name="adj" fmla="val 13333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2040" y="339185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&lt;label&gt;119.65&lt;/label&gt;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3945" y="363664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剩余电量（kWh）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4048125"/>
              <a:ext cx="4191000" cy="952500"/>
            </a:xfrm>
            <a:prstGeom prst="roundRect">
              <a:avLst>
                <a:gd name="adj" fmla="val 8000"/>
              </a:avLst>
            </a:prstGeom>
            <a:solidFill>
              <a:srgbClr val="38BDF8">
                <a:alpha val="5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121569" y="4321175"/>
              <a:ext cx="157162" cy="139700"/>
              <a:chOff x="1121569" y="4321175"/>
              <a:chExt cx="157162" cy="1397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121569" y="43561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43806" y="43561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82688" y="4321175"/>
                <a:ext cx="349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39700">
                    <a:moveTo>
                      <a:pt x="34925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396365" y="43348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解析策略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992" y="4561999"/>
              <a:ext cx="30720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Python re 模块正则匹配 + urllib.request 获取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992" y="47524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零额外依赖，标准库即可完成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0" y="1238250"/>
            <a:ext cx="5905500" cy="4000500"/>
            <a:chOff x="5715000" y="1238250"/>
            <a:chExt cx="59055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5715000" y="1238250"/>
              <a:ext cx="5905500" cy="4000500"/>
            </a:xfrm>
            <a:prstGeom prst="roundRect">
              <a:avLst>
                <a:gd name="adj" fmla="val 2857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0" y="1238250"/>
              <a:ext cx="5905500" cy="419100"/>
            </a:xfrm>
            <a:prstGeom prst="roundRect">
              <a:avLst>
                <a:gd name="adj" fmla="val 27273"/>
              </a:avLst>
            </a:prstGeom>
            <a:solidFill>
              <a:srgbClr val="F87171">
                <a:alpha val="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0" y="1504950"/>
              <a:ext cx="5905500" cy="152400"/>
            </a:xfrm>
            <a:prstGeom prst="rect">
              <a:avLst/>
            </a:prstGeom>
            <a:solidFill>
              <a:srgbClr val="F87171">
                <a:alpha val="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22502" y="13782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正则匹配踩坑记录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00750" y="1857375"/>
              <a:ext cx="5334000" cy="1047750"/>
            </a:xfrm>
            <a:prstGeom prst="roundRect">
              <a:avLst>
                <a:gd name="adj" fmla="val 7273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00750" y="1857375"/>
              <a:ext cx="76200" cy="104775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71260" y="1965960"/>
              <a:ext cx="21651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问题 1：正则匹配不到表名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4118" y="2228374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r'表\s*名\s*称' → 无匹配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3165" y="24584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原因：HTML 中使用 &amp;ensp; 实体，不是空白字符 \s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4118" y="2704624"/>
              <a:ext cx="19471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4D399"/>
                  </a:solidFill>
                  <a:latin typeface="Consolas"/>
                  <a:ea typeface="Microsoft YaHei"/>
                  <a:cs typeface="Consolas"/>
                </a:rPr>
                <a:t>r'表.{0,20}称' → 匹配成功 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00750" y="3048000"/>
              <a:ext cx="5334000" cy="1047750"/>
            </a:xfrm>
            <a:prstGeom prst="roundRect">
              <a:avLst>
                <a:gd name="adj" fmla="val 7273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00750" y="3048000"/>
              <a:ext cx="76200" cy="104775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1260" y="3156585"/>
              <a:ext cx="1475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问题 2：中文乱码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4118" y="3418999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response.read().decode('gbk') → 乱码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3165" y="3649028"/>
              <a:ext cx="39754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原因：服务端声明 charset=utf-8 但部分内容编码不一致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4118" y="3895249"/>
              <a:ext cx="21322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4D399"/>
                  </a:solidFill>
                  <a:latin typeface="Consolas"/>
                  <a:ea typeface="Microsoft YaHei"/>
                  <a:cs typeface="Consolas"/>
                </a:rPr>
                <a:t>.decode('utf-8') → 直接可行 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00750" y="4286250"/>
              <a:ext cx="5334000" cy="762000"/>
            </a:xfrm>
            <a:prstGeom prst="roundRect">
              <a:avLst>
                <a:gd name="adj" fmla="val 10000"/>
              </a:avLst>
            </a:prstGeom>
            <a:solidFill>
              <a:srgbClr val="34D399">
                <a:alpha val="5000"/>
              </a:srgbClr>
            </a:solidFill>
            <a:ln w="9525">
              <a:solidFill>
                <a:srgbClr val="34D399">
                  <a:alpha val="15000"/>
                </a:srgbClr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315075" y="4552950"/>
              <a:ext cx="171450" cy="171450"/>
              <a:chOff x="6315075" y="4552950"/>
              <a:chExt cx="1714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315075" y="45529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49137" y="4591050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78892" y="4686300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605588" y="44505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经验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06540" y="4677728"/>
              <a:ext cx="4297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HTML 实体 ≠ 正则空白字符；编码声明不完全可信，需实测验证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5103233" cy="561974"/>
            <a:chOff x="571500" y="452438"/>
            <a:chExt cx="5103233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492225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短信通知方案：API vs 邮箱网关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38834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Comparison Matrix · 四维度全面评估两种方案的可行性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114425"/>
            <a:ext cx="11049000" cy="628650"/>
            <a:chOff x="571500" y="1114425"/>
            <a:chExt cx="11049000" cy="6286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169" y="1402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评估维度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48000" y="123825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87171">
                <a:alpha val="15000"/>
              </a:srgbClr>
            </a:solidFill>
            <a:ln w="9525">
              <a:solidFill>
                <a:srgbClr val="F87171">
                  <a:alpha val="3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93953" y="1386364"/>
              <a:ext cx="15085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方案 A：短信 API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0" y="1190625"/>
              <a:ext cx="4381500" cy="552450"/>
            </a:xfrm>
            <a:prstGeom prst="roundRect">
              <a:avLst>
                <a:gd name="adj" fmla="val 13793"/>
              </a:avLst>
            </a:prstGeom>
            <a:solidFill>
              <a:srgbClr val="34D399">
                <a:alpha val="10000"/>
              </a:srgbClr>
            </a:solidFill>
            <a:ln w="14288">
              <a:solidFill>
                <a:srgbClr val="34D399">
                  <a:alpha val="40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477500" y="1114425"/>
              <a:ext cx="666750" cy="17145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86336" y="1147762"/>
              <a:ext cx="249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推荐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6124" y="1348264"/>
              <a:ext cx="15672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方案 B：邮箱网关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350" y="1568291"/>
              <a:ext cx="1454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4D399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QQ SMTP → 139邮箱 → 短信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857375"/>
            <a:ext cx="11049000" cy="647700"/>
            <a:chOff x="571500" y="1857375"/>
            <a:chExt cx="11049000" cy="647700"/>
          </a:xfrm>
        </p:grpSpPr>
        <p:sp>
          <p:nvSpPr>
            <p:cNvPr id="17" name="Rectangle 17"/>
            <p:cNvSpPr/>
            <p:nvPr/>
          </p:nvSpPr>
          <p:spPr>
            <a:xfrm>
              <a:off x="571500" y="1857375"/>
              <a:ext cx="2286000" cy="647700"/>
            </a:xfrm>
            <a:prstGeom prst="roundRect">
              <a:avLst>
                <a:gd name="adj" fmla="val 8824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5169" y="2116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资质要求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48000" y="1857375"/>
              <a:ext cx="4000500" cy="647700"/>
            </a:xfrm>
            <a:prstGeom prst="roundRect">
              <a:avLst>
                <a:gd name="adj" fmla="val 8824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55206" y="205025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需要企业营业执照、签名报备、模板审核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45318" y="22650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个人开发者无法使用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0" y="1857375"/>
              <a:ext cx="4381500" cy="647700"/>
            </a:xfrm>
            <a:prstGeom prst="roundRect">
              <a:avLst>
                <a:gd name="adj" fmla="val 8824"/>
              </a:avLst>
            </a:prstGeom>
            <a:solidFill>
              <a:srgbClr val="34D399">
                <a:alpha val="5000"/>
              </a:srgbClr>
            </a:solidFill>
            <a:ln w="14288">
              <a:solidFill>
                <a:srgbClr val="34D399">
                  <a:alpha val="3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36565" y="2050256"/>
              <a:ext cx="2386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零门槛，只需 QQ邮箱 + 139邮箱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5372" y="22650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4D399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两个都是现成的免费账号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619375"/>
            <a:ext cx="11049000" cy="647700"/>
            <a:chOff x="571500" y="2619375"/>
            <a:chExt cx="11049000" cy="647700"/>
          </a:xfrm>
        </p:grpSpPr>
        <p:sp>
          <p:nvSpPr>
            <p:cNvPr id="26" name="Rectangle 26"/>
            <p:cNvSpPr/>
            <p:nvPr/>
          </p:nvSpPr>
          <p:spPr>
            <a:xfrm>
              <a:off x="571500" y="2619375"/>
              <a:ext cx="2286000" cy="647700"/>
            </a:xfrm>
            <a:prstGeom prst="roundRect">
              <a:avLst>
                <a:gd name="adj" fmla="val 8824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27691" y="28789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48000" y="2619375"/>
              <a:ext cx="4000500" cy="647700"/>
            </a:xfrm>
            <a:prstGeom prst="roundRect">
              <a:avLst>
                <a:gd name="adj" fmla="val 8824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12431" y="287893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按条计费，需要预充值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9000" y="2619375"/>
              <a:ext cx="4381500" cy="647700"/>
            </a:xfrm>
            <a:prstGeom prst="roundRect">
              <a:avLst>
                <a:gd name="adj" fmla="val 8824"/>
              </a:avLst>
            </a:prstGeom>
            <a:solidFill>
              <a:srgbClr val="34D399">
                <a:alpha val="5000"/>
              </a:srgbClr>
            </a:solidFill>
            <a:ln w="14288">
              <a:solidFill>
                <a:srgbClr val="34D399">
                  <a:alpha val="30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02732" y="28222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完全免费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3381375"/>
            <a:ext cx="11049000" cy="647700"/>
            <a:chOff x="571500" y="3381375"/>
            <a:chExt cx="11049000" cy="647700"/>
          </a:xfrm>
        </p:grpSpPr>
        <p:sp>
          <p:nvSpPr>
            <p:cNvPr id="33" name="Rectangle 33"/>
            <p:cNvSpPr/>
            <p:nvPr/>
          </p:nvSpPr>
          <p:spPr>
            <a:xfrm>
              <a:off x="571500" y="3381375"/>
              <a:ext cx="2286000" cy="647700"/>
            </a:xfrm>
            <a:prstGeom prst="roundRect">
              <a:avLst>
                <a:gd name="adj" fmla="val 8824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41430" y="36409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可靠性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48000" y="3381375"/>
              <a:ext cx="4000500" cy="647700"/>
            </a:xfrm>
            <a:prstGeom prst="roundRect">
              <a:avLst>
                <a:gd name="adj" fmla="val 8824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16539" y="3640931"/>
              <a:ext cx="1663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运营商级别，SLA 保障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39000" y="3381375"/>
              <a:ext cx="4381500" cy="647700"/>
            </a:xfrm>
            <a:prstGeom prst="roundRect">
              <a:avLst>
                <a:gd name="adj" fmla="val 8824"/>
              </a:avLst>
            </a:prstGeom>
            <a:solidFill>
              <a:srgbClr val="34D399">
                <a:alpha val="5000"/>
              </a:srgbClr>
            </a:solidFill>
            <a:ln w="14288">
              <a:solidFill>
                <a:srgbClr val="34D399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6309" y="3640931"/>
              <a:ext cx="3626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QQ邮箱 SMTP 极其稳定，139邮箱为移动官方服务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143375"/>
            <a:ext cx="11049000" cy="647700"/>
            <a:chOff x="571500" y="4143375"/>
            <a:chExt cx="11049000" cy="647700"/>
          </a:xfrm>
        </p:grpSpPr>
        <p:sp>
          <p:nvSpPr>
            <p:cNvPr id="40" name="Rectangle 40"/>
            <p:cNvSpPr/>
            <p:nvPr/>
          </p:nvSpPr>
          <p:spPr>
            <a:xfrm>
              <a:off x="571500" y="4143375"/>
              <a:ext cx="2286000" cy="647700"/>
            </a:xfrm>
            <a:prstGeom prst="roundRect">
              <a:avLst>
                <a:gd name="adj" fmla="val 8824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55169" y="4402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每日额度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048000" y="4143375"/>
              <a:ext cx="4000500" cy="647700"/>
            </a:xfrm>
            <a:prstGeom prst="roundRect">
              <a:avLst>
                <a:gd name="adj" fmla="val 8824"/>
              </a:avLst>
            </a:prstGeom>
            <a:solidFill>
              <a:srgbClr val="0B1120"/>
            </a:solidFill>
            <a:ln w="9525">
              <a:solidFill>
                <a:srgbClr val="1E293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67247" y="4402931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按套餐，通常数千条/天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239000" y="4143375"/>
              <a:ext cx="4381500" cy="647700"/>
            </a:xfrm>
            <a:prstGeom prst="roundRect">
              <a:avLst>
                <a:gd name="adj" fmla="val 8824"/>
              </a:avLst>
            </a:prstGeom>
            <a:solidFill>
              <a:srgbClr val="34D399">
                <a:alpha val="5000"/>
              </a:srgbClr>
            </a:solidFill>
            <a:ln w="14288">
              <a:solidFill>
                <a:srgbClr val="34D399">
                  <a:alpha val="3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49170" y="4402931"/>
              <a:ext cx="3561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QQ邮箱每日发送限额数百封，告警场景完全够用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953000"/>
            <a:ext cx="11049000" cy="647700"/>
            <a:chOff x="571500" y="4953000"/>
            <a:chExt cx="11049000" cy="647700"/>
          </a:xfrm>
        </p:grpSpPr>
        <p:sp>
          <p:nvSpPr>
            <p:cNvPr id="47" name="Rectangle 47"/>
            <p:cNvSpPr/>
            <p:nvPr/>
          </p:nvSpPr>
          <p:spPr>
            <a:xfrm>
              <a:off x="571500" y="4953000"/>
              <a:ext cx="2286000" cy="647700"/>
            </a:xfrm>
            <a:prstGeom prst="roundRect">
              <a:avLst>
                <a:gd name="adj" fmla="val 11765"/>
              </a:avLst>
            </a:prstGeom>
            <a:solidFill>
              <a:srgbClr val="131B2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355169" y="5212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综合评估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48000" y="4953000"/>
              <a:ext cx="4000500" cy="647700"/>
            </a:xfrm>
            <a:prstGeom prst="roundRect">
              <a:avLst>
                <a:gd name="adj" fmla="val 11765"/>
              </a:avLst>
            </a:prstGeom>
            <a:solidFill>
              <a:srgbClr val="F87171">
                <a:alpha val="8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38520" y="5154930"/>
              <a:ext cx="10194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不可行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239000" y="4953000"/>
              <a:ext cx="4381500" cy="647700"/>
            </a:xfrm>
            <a:prstGeom prst="roundRect">
              <a:avLst>
                <a:gd name="adj" fmla="val 11765"/>
              </a:avLst>
            </a:prstGeom>
            <a:solidFill>
              <a:srgbClr val="34D399">
                <a:alpha val="8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59000" y="5154930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推荐方案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5905500"/>
            <a:ext cx="11049000" cy="476250"/>
            <a:chOff x="571500" y="5905500"/>
            <a:chExt cx="11049000" cy="476250"/>
          </a:xfrm>
        </p:grpSpPr>
        <p:sp>
          <p:nvSpPr>
            <p:cNvPr id="54" name="Rectangle 54"/>
            <p:cNvSpPr/>
            <p:nvPr/>
          </p:nvSpPr>
          <p:spPr>
            <a:xfrm>
              <a:off x="571500" y="590550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20742" y="6069806"/>
              <a:ext cx="75505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选择邮箱网关的理由：零成本 + 零门槛 + 告警量极少（一天几条）+ QQ邮箱+139邮箱均免费且稳定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  <p:bldP spid="39" grpId="0"/>
      <p:bldP spid="46" grpId="0"/>
      <p:bldP spid="53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7449526" cy="561974"/>
            <a:chOff x="571500" y="452438"/>
            <a:chExt cx="7449526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72685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短信下发链路：QQ SMTP → 139邮箱 → 手机短信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47422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Four-stage notification pipeline · 每一阶段的产出物驱动下一阶段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238250"/>
            <a:ext cx="11049000" cy="304800"/>
          </a:xfrm>
          <a:prstGeom prst="roundRect">
            <a:avLst>
              <a:gd name="adj" fmla="val 18750"/>
            </a:avLst>
          </a:prstGeom>
          <a:solidFill>
            <a:srgbClr val="131B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76169" y="1341120"/>
            <a:ext cx="4839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PIPELINE: electricity_gui.py → SMTP → 139 MAILBOX → SMS → MOBILE PHONE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71500" y="1714500"/>
            <a:ext cx="2381250" cy="3238500"/>
            <a:chOff x="571500" y="1714500"/>
            <a:chExt cx="2381250" cy="32385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B2E"/>
            </a:solidFill>
            <a:ln w="9525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1500" y="1714500"/>
              <a:ext cx="2381250" cy="457200"/>
            </a:xfrm>
            <a:custGeom>
              <a:avLst/>
              <a:gdLst/>
              <a:ahLst/>
              <a:cxnLst/>
              <a:rect l="l" t="t" r="r" b="b"/>
              <a:pathLst>
                <a:path w="2381250" h="4572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286000" y="0"/>
                  </a:lnTo>
                  <a:cubicBezTo>
                    <a:pt x="2338605" y="0"/>
                    <a:pt x="2381250" y="42645"/>
                    <a:pt x="2381250" y="95250"/>
                  </a:cubicBezTo>
                  <a:lnTo>
                    <a:pt x="23812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18288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8691" y="18978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7758" y="1891189"/>
              <a:ext cx="13032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QQ SMTP 发送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171700"/>
              <a:ext cx="2381250" cy="285750"/>
            </a:xfrm>
            <a:prstGeom prst="rect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1304" y="2282666"/>
              <a:ext cx="1121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smtplib.SMTP_SSL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88194" y="2710656"/>
              <a:ext cx="157162" cy="122238"/>
              <a:chOff x="788194" y="2710656"/>
              <a:chExt cx="157162" cy="12223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88194" y="2710656"/>
                <a:ext cx="157162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22238">
                    <a:moveTo>
                      <a:pt x="0" y="17463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139700" y="0"/>
                    </a:lnTo>
                    <a:cubicBezTo>
                      <a:pt x="149344" y="0"/>
                      <a:pt x="157162" y="7818"/>
                      <a:pt x="157162" y="17463"/>
                    </a:cubicBezTo>
                    <a:lnTo>
                      <a:pt x="157162" y="104775"/>
                    </a:lnTo>
                    <a:cubicBezTo>
                      <a:pt x="157162" y="114419"/>
                      <a:pt x="149344" y="122238"/>
                      <a:pt x="139700" y="122238"/>
                    </a:cubicBezTo>
                    <a:lnTo>
                      <a:pt x="17462" y="122238"/>
                    </a:lnTo>
                    <a:cubicBezTo>
                      <a:pt x="7818" y="122238"/>
                      <a:pt x="0" y="114419"/>
                      <a:pt x="0" y="104775"/>
                    </a:cubicBez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88194" y="2728119"/>
                <a:ext cx="15716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52388">
                    <a:moveTo>
                      <a:pt x="0" y="0"/>
                    </a:moveTo>
                    <a:lnTo>
                      <a:pt x="78581" y="52388"/>
                    </a:ln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53465" y="2725102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SMTP 认证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5370" y="295084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smtp.qq.com:465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5370" y="3141345"/>
              <a:ext cx="877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QQ邮箱授权码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05656" y="3531394"/>
              <a:ext cx="122238" cy="157162"/>
              <a:chOff x="805656" y="3531394"/>
              <a:chExt cx="122238" cy="157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84238" y="3531394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0"/>
                    </a:moveTo>
                    <a:lnTo>
                      <a:pt x="0" y="34925"/>
                    </a:lnTo>
                    <a:cubicBezTo>
                      <a:pt x="0" y="39747"/>
                      <a:pt x="3909" y="43656"/>
                      <a:pt x="8731" y="43656"/>
                    </a:cubicBezTo>
                    <a:lnTo>
                      <a:pt x="43656" y="43656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5656" y="3531394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104775" y="157162"/>
                    </a:moveTo>
                    <a:lnTo>
                      <a:pt x="17463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78581" y="0"/>
                    </a:lnTo>
                    <a:lnTo>
                      <a:pt x="122237" y="43656"/>
                    </a:lnTo>
                    <a:lnTo>
                      <a:pt x="122237" y="139700"/>
                    </a:lnTo>
                    <a:cubicBezTo>
                      <a:pt x="122237" y="149344"/>
                      <a:pt x="114419" y="157162"/>
                      <a:pt x="104775" y="157162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53465" y="3563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邮件发送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5370" y="37890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To: 13996926630@139.com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4143375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prstDash val="dash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2950" y="4286250"/>
              <a:ext cx="2038350" cy="495300"/>
            </a:xfrm>
            <a:prstGeom prst="roundRect">
              <a:avLst>
                <a:gd name="adj" fmla="val 11538"/>
              </a:avLst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75928" y="4414838"/>
              <a:ext cx="7723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STAGE OUTPUT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0273" y="45648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邮件投递成功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2952750" y="3333750"/>
            <a:ext cx="714375" cy="1"/>
          </a:xfrm>
          <a:prstGeom prst="line">
            <a:avLst/>
          </a:prstGeom>
          <a:noFill/>
          <a:ln w="19050">
            <a:solidFill>
              <a:srgbClr val="38BDF8"/>
            </a:solidFill>
            <a:tailEnd type="triangle" w="lg" len="lg"/>
          </a:ln>
        </p:spPr>
      </p:sp>
      <p:grpSp>
        <p:nvGrpSpPr>
          <p:cNvPr id="52" name="Group 52"/>
          <p:cNvGrpSpPr/>
          <p:nvPr/>
        </p:nvGrpSpPr>
        <p:grpSpPr>
          <a:xfrm>
            <a:off x="3714750" y="1714500"/>
            <a:ext cx="2381250" cy="3238500"/>
            <a:chOff x="3714750" y="1714500"/>
            <a:chExt cx="2381250" cy="3238500"/>
          </a:xfrm>
        </p:grpSpPr>
        <p:sp>
          <p:nvSpPr>
            <p:cNvPr id="33" name="Rectangle 33"/>
            <p:cNvSpPr/>
            <p:nvPr/>
          </p:nvSpPr>
          <p:spPr>
            <a:xfrm>
              <a:off x="3714750" y="1714500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B2E"/>
            </a:solidFill>
            <a:ln w="9525">
              <a:solidFill>
                <a:srgbClr val="818CF8">
                  <a:alpha val="30000"/>
                </a:srgbClr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714750" y="1714500"/>
              <a:ext cx="2381250" cy="457200"/>
            </a:xfrm>
            <a:custGeom>
              <a:avLst/>
              <a:gdLst/>
              <a:ahLst/>
              <a:cxnLst/>
              <a:rect l="l" t="t" r="r" b="b"/>
              <a:pathLst>
                <a:path w="2381250" h="4572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286000" y="0"/>
                  </a:lnTo>
                  <a:cubicBezTo>
                    <a:pt x="2338605" y="0"/>
                    <a:pt x="2381250" y="42645"/>
                    <a:pt x="2381250" y="95250"/>
                  </a:cubicBezTo>
                  <a:lnTo>
                    <a:pt x="23812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818CF8">
                <a:alpha val="20000"/>
              </a:srgb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86200" y="18288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818C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10376" y="1897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51008" y="1891189"/>
              <a:ext cx="1146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18CF8"/>
                  </a:solidFill>
                  <a:latin typeface="Arial"/>
                  <a:ea typeface="Microsoft YaHei"/>
                  <a:cs typeface="Arial"/>
                </a:rPr>
                <a:t>139邮箱 接收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714750" y="2171700"/>
              <a:ext cx="2381250" cy="285750"/>
            </a:xfrm>
            <a:prstGeom prst="rect">
              <a:avLst/>
            </a:prstGeom>
            <a:solidFill>
              <a:srgbClr val="818CF8">
                <a:alpha val="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10975" y="2282666"/>
              <a:ext cx="988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18CF8"/>
                  </a:solidFill>
                  <a:latin typeface="Arial"/>
                  <a:ea typeface="Microsoft YaHei"/>
                  <a:cs typeface="Arial"/>
                </a:rPr>
                <a:t>139.com Mailbox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3931444" y="2710656"/>
              <a:ext cx="157162" cy="122238"/>
              <a:chOff x="3931444" y="2710656"/>
              <a:chExt cx="157162" cy="12223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931444" y="2710656"/>
                <a:ext cx="157162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22238">
                    <a:moveTo>
                      <a:pt x="0" y="17463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139700" y="0"/>
                    </a:lnTo>
                    <a:cubicBezTo>
                      <a:pt x="149344" y="0"/>
                      <a:pt x="157162" y="7818"/>
                      <a:pt x="157162" y="17463"/>
                    </a:cubicBezTo>
                    <a:lnTo>
                      <a:pt x="157162" y="104775"/>
                    </a:lnTo>
                    <a:cubicBezTo>
                      <a:pt x="157162" y="114419"/>
                      <a:pt x="149344" y="122238"/>
                      <a:pt x="139700" y="122238"/>
                    </a:cubicBezTo>
                    <a:lnTo>
                      <a:pt x="17462" y="122238"/>
                    </a:lnTo>
                    <a:cubicBezTo>
                      <a:pt x="7818" y="122238"/>
                      <a:pt x="0" y="114419"/>
                      <a:pt x="0" y="104775"/>
                    </a:cubicBez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931444" y="2728119"/>
                <a:ext cx="15716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52388">
                    <a:moveTo>
                      <a:pt x="0" y="0"/>
                    </a:moveTo>
                    <a:lnTo>
                      <a:pt x="78581" y="52388"/>
                    </a:ln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4196715" y="2725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邮件到达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98620" y="295084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139邮箱网页版可见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948906" y="356631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196715" y="3563302"/>
              <a:ext cx="11055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SMTP 层面成功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98620" y="3789045"/>
              <a:ext cx="1271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sendmail() 返回成功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3714750" y="4143375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prstDash val="dash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886200" y="4286250"/>
              <a:ext cx="2038350" cy="495300"/>
            </a:xfrm>
            <a:prstGeom prst="roundRect">
              <a:avLst>
                <a:gd name="adj" fmla="val 11538"/>
              </a:avLst>
            </a:prstGeom>
            <a:solidFill>
              <a:srgbClr val="818CF8">
                <a:alpha val="6000"/>
              </a:srgbClr>
            </a:solidFill>
            <a:ln w="9525">
              <a:solidFill>
                <a:srgbClr val="818CF8">
                  <a:alpha val="15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19178" y="4414838"/>
              <a:ext cx="7723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STAGE OUTPUT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59784" y="45648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18CF8"/>
                  </a:solidFill>
                  <a:latin typeface="Arial"/>
                  <a:ea typeface="Microsoft YaHei"/>
                  <a:cs typeface="Arial"/>
                </a:rPr>
                <a:t>收件箱可见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6096000" y="3333750"/>
            <a:ext cx="714375" cy="1"/>
          </a:xfrm>
          <a:prstGeom prst="line">
            <a:avLst/>
          </a:prstGeom>
          <a:noFill/>
          <a:ln w="19050">
            <a:solidFill>
              <a:srgbClr val="38BDF8"/>
            </a:solidFill>
            <a:tailEnd type="triangle" w="lg" len="lg"/>
          </a:ln>
        </p:spPr>
      </p:sp>
      <p:grpSp>
        <p:nvGrpSpPr>
          <p:cNvPr id="84" name="Group 84"/>
          <p:cNvGrpSpPr/>
          <p:nvPr/>
        </p:nvGrpSpPr>
        <p:grpSpPr>
          <a:xfrm>
            <a:off x="6858000" y="1714500"/>
            <a:ext cx="2381250" cy="3238500"/>
            <a:chOff x="6858000" y="1714500"/>
            <a:chExt cx="2381250" cy="3238500"/>
          </a:xfrm>
        </p:grpSpPr>
        <p:sp>
          <p:nvSpPr>
            <p:cNvPr id="54" name="Rectangle 54"/>
            <p:cNvSpPr/>
            <p:nvPr/>
          </p:nvSpPr>
          <p:spPr>
            <a:xfrm>
              <a:off x="6858000" y="1714500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B2E"/>
            </a:solidFill>
            <a:ln w="14288">
              <a:solidFill>
                <a:srgbClr val="F87171">
                  <a:alpha val="40000"/>
                </a:srgbClr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858000" y="1714500"/>
              <a:ext cx="2381250" cy="457200"/>
            </a:xfrm>
            <a:custGeom>
              <a:avLst/>
              <a:gdLst/>
              <a:ahLst/>
              <a:cxnLst/>
              <a:rect l="l" t="t" r="r" b="b"/>
              <a:pathLst>
                <a:path w="2381250" h="4572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286000" y="0"/>
                  </a:lnTo>
                  <a:cubicBezTo>
                    <a:pt x="2338605" y="0"/>
                    <a:pt x="2381250" y="42645"/>
                    <a:pt x="2381250" y="95250"/>
                  </a:cubicBezTo>
                  <a:lnTo>
                    <a:pt x="23812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F87171">
                <a:alpha val="15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29450" y="18288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53626" y="1897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94258" y="189118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短信通知触发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858000" y="2171700"/>
              <a:ext cx="2381250" cy="285750"/>
            </a:xfrm>
            <a:prstGeom prst="rect">
              <a:avLst/>
            </a:prstGeom>
            <a:solidFill>
              <a:srgbClr val="F87171">
                <a:alpha val="5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95342" y="2282666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需要手动开启！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7065219" y="2690293"/>
              <a:ext cx="176105" cy="151297"/>
              <a:chOff x="7065219" y="2690293"/>
              <a:chExt cx="176105" cy="15129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153275" y="27455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65219" y="26902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153275" y="2806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339965" y="2725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关键配置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41870" y="295084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139邮箱 → 设置 → 短信通知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41870" y="31413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开启「新邮件短信提醒」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7074694" y="3548856"/>
              <a:ext cx="157162" cy="130970"/>
              <a:chOff x="7074694" y="3548856"/>
              <a:chExt cx="157162" cy="13097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127081" y="354885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09619" y="358378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074694" y="36187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196931" y="36187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153275" y="362743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083425" y="365363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93875" y="365363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083425" y="35663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90383" y="35663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339965" y="35633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沉默失败断点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41870" y="37890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默认关闭，需手动开启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858000" y="4143375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prstDash val="dash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029450" y="4286250"/>
              <a:ext cx="2038350" cy="495300"/>
            </a:xfrm>
            <a:prstGeom prst="roundRect">
              <a:avLst>
                <a:gd name="adj" fmla="val 11538"/>
              </a:avLst>
            </a:prstGeom>
            <a:solidFill>
              <a:srgbClr val="F87171">
                <a:alpha val="6000"/>
              </a:srgbClr>
            </a:solidFill>
            <a:ln w="9525">
              <a:solidFill>
                <a:srgbClr val="F87171">
                  <a:alpha val="15000"/>
                </a:srgbClr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662428" y="4414838"/>
              <a:ext cx="7723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STAGE OUTPUT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16773" y="45648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短信发送请求</a:t>
              </a:r>
            </a:p>
          </p:txBody>
        </p:sp>
      </p:grpSp>
      <p:sp>
        <p:nvSpPr>
          <p:cNvPr id="85" name="Line 85"/>
          <p:cNvSpPr/>
          <p:nvPr/>
        </p:nvSpPr>
        <p:spPr>
          <a:xfrm>
            <a:off x="9239250" y="3333750"/>
            <a:ext cx="714375" cy="1"/>
          </a:xfrm>
          <a:prstGeom prst="line">
            <a:avLst/>
          </a:prstGeom>
          <a:noFill/>
          <a:ln w="19050">
            <a:solidFill>
              <a:srgbClr val="38BDF8"/>
            </a:solidFill>
            <a:tailEnd type="triangle" w="lg" len="lg"/>
          </a:ln>
        </p:spPr>
      </p:sp>
      <p:grpSp>
        <p:nvGrpSpPr>
          <p:cNvPr id="106" name="Group 106"/>
          <p:cNvGrpSpPr/>
          <p:nvPr/>
        </p:nvGrpSpPr>
        <p:grpSpPr>
          <a:xfrm>
            <a:off x="10001250" y="1714500"/>
            <a:ext cx="1619250" cy="3238500"/>
            <a:chOff x="10001250" y="1714500"/>
            <a:chExt cx="1619250" cy="3238500"/>
          </a:xfrm>
        </p:grpSpPr>
        <p:sp>
          <p:nvSpPr>
            <p:cNvPr id="86" name="Rectangle 86"/>
            <p:cNvSpPr/>
            <p:nvPr/>
          </p:nvSpPr>
          <p:spPr>
            <a:xfrm>
              <a:off x="10001250" y="1714500"/>
              <a:ext cx="1619250" cy="3238500"/>
            </a:xfrm>
            <a:prstGeom prst="roundRect">
              <a:avLst>
                <a:gd name="adj" fmla="val 5882"/>
              </a:avLst>
            </a:prstGeom>
            <a:solidFill>
              <a:srgbClr val="131B2E"/>
            </a:solidFill>
            <a:ln w="9525">
              <a:solidFill>
                <a:srgbClr val="34D399">
                  <a:alpha val="30000"/>
                </a:srgbClr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001250" y="1714500"/>
              <a:ext cx="1619250" cy="457200"/>
            </a:xfrm>
            <a:custGeom>
              <a:avLst/>
              <a:gdLst/>
              <a:ahLst/>
              <a:cxnLst/>
              <a:rect l="l" t="t" r="r" b="b"/>
              <a:pathLst>
                <a:path w="1619250" h="4572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1524000" y="0"/>
                  </a:lnTo>
                  <a:cubicBezTo>
                    <a:pt x="1576605" y="0"/>
                    <a:pt x="1619250" y="42645"/>
                    <a:pt x="1619250" y="95250"/>
                  </a:cubicBezTo>
                  <a:lnTo>
                    <a:pt x="161925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34D399">
                <a:alpha val="20000"/>
              </a:srgbClr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172700" y="18288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196876" y="1897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537508" y="189118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短信下发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001250" y="2171700"/>
              <a:ext cx="1619250" cy="285750"/>
            </a:xfrm>
            <a:prstGeom prst="rect">
              <a:avLst/>
            </a:prstGeom>
            <a:solidFill>
              <a:srgbClr val="34D399">
                <a:alpha val="5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547366" y="228266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中国移动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10244138" y="2693194"/>
              <a:ext cx="104775" cy="157162"/>
              <a:chOff x="10244138" y="2693194"/>
              <a:chExt cx="104775" cy="15716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10244138" y="2693194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3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39700"/>
                    </a:lnTo>
                    <a:cubicBezTo>
                      <a:pt x="104775" y="149344"/>
                      <a:pt x="96957" y="157162"/>
                      <a:pt x="87313" y="157162"/>
                    </a:cubicBezTo>
                    <a:lnTo>
                      <a:pt x="17462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10287794" y="2701925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10296525" y="28154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83215" y="2725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移动网络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485120" y="29508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SMS 协议</a:t>
              </a:r>
            </a:p>
          </p:txBody>
        </p:sp>
        <p:sp>
          <p:nvSpPr>
            <p:cNvPr id="99" name="Freeform 99"/>
            <p:cNvSpPr/>
            <p:nvPr/>
          </p:nvSpPr>
          <p:spPr>
            <a:xfrm>
              <a:off x="10235406" y="356631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9050">
              <a:solidFill>
                <a:srgbClr val="34D399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483215" y="3563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手机收到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485120" y="3789045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13996926630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10001250" y="4143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prstDash val="dash"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0172700" y="4286250"/>
              <a:ext cx="1276350" cy="495300"/>
            </a:xfrm>
            <a:prstGeom prst="roundRect">
              <a:avLst>
                <a:gd name="adj" fmla="val 11538"/>
              </a:avLst>
            </a:prstGeom>
            <a:solidFill>
              <a:srgbClr val="34D399">
                <a:alpha val="6000"/>
              </a:srgbClr>
            </a:solidFill>
            <a:ln w="9525">
              <a:solidFill>
                <a:srgbClr val="34D399">
                  <a:alpha val="15000"/>
                </a:srgbClr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0424678" y="4414838"/>
              <a:ext cx="7723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STAGE OUTPUT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451544" y="45648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短信送达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71500" y="5238750"/>
            <a:ext cx="11049000" cy="361950"/>
            <a:chOff x="571500" y="5238750"/>
            <a:chExt cx="11049000" cy="361950"/>
          </a:xfrm>
        </p:grpSpPr>
        <p:sp>
          <p:nvSpPr>
            <p:cNvPr id="107" name="Rectangle 107"/>
            <p:cNvSpPr/>
            <p:nvPr/>
          </p:nvSpPr>
          <p:spPr>
            <a:xfrm>
              <a:off x="571500" y="5238750"/>
              <a:ext cx="11049000" cy="361950"/>
            </a:xfrm>
            <a:prstGeom prst="roundRect">
              <a:avLst>
                <a:gd name="adj" fmla="val 21053"/>
              </a:avLst>
            </a:prstGeom>
            <a:solidFill>
              <a:srgbClr val="F87171">
                <a:alpha val="6000"/>
              </a:srgbClr>
            </a:solidFill>
            <a:ln w="9525">
              <a:solidFill>
                <a:srgbClr val="F87171">
                  <a:alpha val="20000"/>
                </a:srgbClr>
              </a:solidFill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870929" y="5372108"/>
              <a:ext cx="144086" cy="123788"/>
              <a:chOff x="870929" y="5372108"/>
              <a:chExt cx="144086" cy="123788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942975" y="541734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70929" y="537210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942975" y="5467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129665" y="5363528"/>
              <a:ext cx="83514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关键断点：SMTP 成功 ≠ 邮件到达 ≠ 短信发送。139 邮箱的「短信通知」开关是隐藏断点，靠手动登录邮箱才定位到。</a:t>
              </a:r>
            </a:p>
          </p:txBody>
        </p:sp>
      </p:grpSp>
      <p:sp>
        <p:nvSpPr>
          <p:cNvPr id="114" name="Rectangle 114"/>
          <p:cNvSpPr/>
          <p:nvPr/>
        </p:nvSpPr>
        <p:spPr>
          <a:xfrm>
            <a:off x="571500" y="5810250"/>
            <a:ext cx="11049000" cy="428625"/>
          </a:xfrm>
          <a:prstGeom prst="roundRect">
            <a:avLst>
              <a:gd name="adj" fmla="val 17778"/>
            </a:avLst>
          </a:prstGeom>
          <a:noFill/>
          <a:ln w="14288">
            <a:solidFill>
              <a:srgbClr val="1E293B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3577400" y="5971699"/>
            <a:ext cx="5037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起点：QQ邮箱 SMTP → 经过：139邮箱服务器 → 终点：中国移动 SMS → 用户手机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2" grpId="0"/>
      <p:bldP spid="84" grpId="0"/>
      <p:bldP spid="106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5379268" cy="561974"/>
            <a:chOff x="571500" y="452438"/>
            <a:chExt cx="5379268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51982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程序架构：零依赖 Python 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41058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Python 3.14 · 标准库优先 · 最小化依赖 · PyInstaller 打包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355" y="1140142"/>
            <a:ext cx="11066145" cy="1431608"/>
            <a:chOff x="554355" y="1140142"/>
            <a:chExt cx="11066145" cy="1431608"/>
          </a:xfrm>
        </p:grpSpPr>
        <p:sp>
          <p:nvSpPr>
            <p:cNvPr id="7" name="TextBox 7"/>
            <p:cNvSpPr txBox="1"/>
            <p:nvPr/>
          </p:nvSpPr>
          <p:spPr>
            <a:xfrm>
              <a:off x="554355" y="1140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技术选型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2571750" cy="1143000"/>
              <a:chOff x="571500" y="1428750"/>
              <a:chExt cx="2571750" cy="1143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28750"/>
                <a:ext cx="2571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890588" y="1739900"/>
                <a:ext cx="200025" cy="187325"/>
                <a:chOff x="890588" y="1739900"/>
                <a:chExt cx="200025" cy="18732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90588" y="17399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35038" y="19177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57262" y="18732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23938" y="18732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38BDF8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23010" y="1756410"/>
                <a:ext cx="71136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GUI 界面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43915" y="2001202"/>
                <a:ext cx="1008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tkinter / ttk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45820" y="2226945"/>
                <a:ext cx="18236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Python 自带，无需 pip install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81375" y="1428750"/>
              <a:ext cx="2571750" cy="1143000"/>
              <a:chOff x="3381375" y="1428750"/>
              <a:chExt cx="2571750" cy="1143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381375" y="1428750"/>
                <a:ext cx="2571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711573" y="1734470"/>
                <a:ext cx="183214" cy="188637"/>
                <a:chOff x="3711573" y="1734470"/>
                <a:chExt cx="183214" cy="188637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767138" y="1795462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66675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818CF8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789362" y="1734470"/>
                  <a:ext cx="105425" cy="105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25" h="105442">
                      <a:moveTo>
                        <a:pt x="0" y="27655"/>
                      </a:moveTo>
                      <a:lnTo>
                        <a:pt x="5145" y="21698"/>
                      </a:lnTo>
                      <a:cubicBezTo>
                        <a:pt x="26846" y="0"/>
                        <a:pt x="62029" y="2"/>
                        <a:pt x="83727" y="21704"/>
                      </a:cubicBezTo>
                      <a:cubicBezTo>
                        <a:pt x="105425" y="43405"/>
                        <a:pt x="105423" y="78588"/>
                        <a:pt x="83722" y="100286"/>
                      </a:cubicBezTo>
                      <a:lnTo>
                        <a:pt x="77788" y="105442"/>
                      </a:lnTo>
                    </a:path>
                  </a:pathLst>
                </a:custGeom>
                <a:noFill/>
                <a:ln w="19050">
                  <a:solidFill>
                    <a:srgbClr val="818CF8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711573" y="1817688"/>
                  <a:ext cx="100014" cy="10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4" h="105419">
                      <a:moveTo>
                        <a:pt x="100014" y="77787"/>
                      </a:moveTo>
                      <a:lnTo>
                        <a:pt x="95602" y="83722"/>
                      </a:lnTo>
                      <a:cubicBezTo>
                        <a:pt x="73661" y="105419"/>
                        <a:pt x="38345" y="105419"/>
                        <a:pt x="16404" y="83722"/>
                      </a:cubicBezTo>
                      <a:cubicBezTo>
                        <a:pt x="5907" y="73343"/>
                        <a:pt x="0" y="59195"/>
                        <a:pt x="0" y="44433"/>
                      </a:cubicBezTo>
                      <a:cubicBezTo>
                        <a:pt x="0" y="29672"/>
                        <a:pt x="5907" y="15524"/>
                        <a:pt x="16404" y="5145"/>
                      </a:cubicBezTo>
                      <a:lnTo>
                        <a:pt x="22227" y="0"/>
                      </a:lnTo>
                    </a:path>
                  </a:pathLst>
                </a:custGeom>
                <a:noFill/>
                <a:ln w="19050">
                  <a:solidFill>
                    <a:srgbClr val="818CF8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4032885" y="1756410"/>
                <a:ext cx="8585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HTTP 请求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653790" y="2001202"/>
                <a:ext cx="10924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urllib.request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55695" y="2226945"/>
                <a:ext cx="11795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标准库 HTTP 客户端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191250" y="1428750"/>
              <a:ext cx="2571750" cy="1143000"/>
              <a:chOff x="6191250" y="1428750"/>
              <a:chExt cx="257175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91250" y="1428750"/>
                <a:ext cx="2571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510338" y="1751012"/>
                <a:ext cx="200025" cy="155575"/>
                <a:chOff x="6510338" y="1751012"/>
                <a:chExt cx="200025" cy="15557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510338" y="1751012"/>
                  <a:ext cx="20002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5557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77800" y="0"/>
                      </a:lnTo>
                      <a:cubicBezTo>
                        <a:pt x="190075" y="0"/>
                        <a:pt x="200025" y="9950"/>
                        <a:pt x="200025" y="22225"/>
                      </a:cubicBezTo>
                      <a:lnTo>
                        <a:pt x="200025" y="133350"/>
                      </a:lnTo>
                      <a:cubicBezTo>
                        <a:pt x="200025" y="145625"/>
                        <a:pt x="190075" y="155575"/>
                        <a:pt x="177800" y="155575"/>
                      </a:cubicBezTo>
                      <a:lnTo>
                        <a:pt x="22225" y="155575"/>
                      </a:lnTo>
                      <a:cubicBezTo>
                        <a:pt x="9950" y="155575"/>
                        <a:pt x="0" y="145625"/>
                        <a:pt x="0" y="13335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34D399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10338" y="1773238"/>
                  <a:ext cx="2000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6675">
                      <a:moveTo>
                        <a:pt x="0" y="0"/>
                      </a:moveTo>
                      <a:lnTo>
                        <a:pt x="100012" y="66675"/>
                      </a:ln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34D399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842760" y="17564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邮件发送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3665" y="2001202"/>
                <a:ext cx="11231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smtplib + email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5570" y="2226945"/>
                <a:ext cx="119272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SMTP_SSL 安全连接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001125" y="1428750"/>
              <a:ext cx="2619375" cy="1143000"/>
              <a:chOff x="9001125" y="1428750"/>
              <a:chExt cx="2619375" cy="1143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001125" y="1428750"/>
                <a:ext cx="2619375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313592" y="1722167"/>
                <a:ext cx="210296" cy="210296"/>
              </a:xfrm>
              <a:custGeom>
                <a:avLst/>
                <a:gdLst/>
                <a:ahLst/>
                <a:cxnLst/>
                <a:rect l="l" t="t" r="r" b="b"/>
                <a:pathLst>
                  <a:path w="210296" h="210296">
                    <a:moveTo>
                      <a:pt x="51071" y="84408"/>
                    </a:moveTo>
                    <a:lnTo>
                      <a:pt x="84408" y="84408"/>
                    </a:lnTo>
                    <a:lnTo>
                      <a:pt x="84408" y="51071"/>
                    </a:lnTo>
                    <a:lnTo>
                      <a:pt x="45515" y="12177"/>
                    </a:lnTo>
                    <a:cubicBezTo>
                      <a:pt x="71012" y="0"/>
                      <a:pt x="101416" y="5216"/>
                      <a:pt x="121396" y="25196"/>
                    </a:cubicBezTo>
                    <a:cubicBezTo>
                      <a:pt x="141375" y="45176"/>
                      <a:pt x="146592" y="75580"/>
                      <a:pt x="134415" y="101077"/>
                    </a:cubicBezTo>
                    <a:lnTo>
                      <a:pt x="201090" y="167752"/>
                    </a:lnTo>
                    <a:cubicBezTo>
                      <a:pt x="210296" y="176958"/>
                      <a:pt x="210296" y="191884"/>
                      <a:pt x="201090" y="201090"/>
                    </a:cubicBezTo>
                    <a:cubicBezTo>
                      <a:pt x="191884" y="210296"/>
                      <a:pt x="176958" y="210296"/>
                      <a:pt x="167752" y="201090"/>
                    </a:cubicBezTo>
                    <a:lnTo>
                      <a:pt x="101077" y="134415"/>
                    </a:lnTo>
                    <a:cubicBezTo>
                      <a:pt x="75580" y="146592"/>
                      <a:pt x="45176" y="141375"/>
                      <a:pt x="25196" y="121396"/>
                    </a:cubicBezTo>
                    <a:cubicBezTo>
                      <a:pt x="5216" y="101416"/>
                      <a:pt x="0" y="71012"/>
                      <a:pt x="12177" y="45515"/>
                    </a:cubicBezTo>
                    <a:lnTo>
                      <a:pt x="51071" y="84408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652635" y="17564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打包交付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273540" y="2001202"/>
                <a:ext cx="12228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PyInstaller 6.20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275445" y="2226945"/>
                <a:ext cx="1389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--onefile --windowed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54355" y="2759392"/>
            <a:ext cx="11066145" cy="974408"/>
            <a:chOff x="554355" y="2759392"/>
            <a:chExt cx="11066145" cy="974408"/>
          </a:xfrm>
        </p:grpSpPr>
        <p:sp>
          <p:nvSpPr>
            <p:cNvPr id="42" name="TextBox 42"/>
            <p:cNvSpPr txBox="1"/>
            <p:nvPr/>
          </p:nvSpPr>
          <p:spPr>
            <a:xfrm>
              <a:off x="554355" y="2759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18CF8"/>
                  </a:solidFill>
                  <a:latin typeface="Arial"/>
                  <a:ea typeface="Microsoft YaHei"/>
                  <a:cs typeface="Arial"/>
                </a:rPr>
                <a:t>文件结构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3048000"/>
              <a:ext cx="11049000" cy="619125"/>
            </a:xfrm>
            <a:prstGeom prst="roundRect">
              <a:avLst>
                <a:gd name="adj" fmla="val 15385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49312" y="3338512"/>
              <a:ext cx="111125" cy="142875"/>
              <a:chOff x="849312" y="3338512"/>
              <a:chExt cx="111125" cy="1428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20750" y="3338512"/>
                <a:ext cx="39687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7" y="39688"/>
                    </a:cubicBezTo>
                    <a:lnTo>
                      <a:pt x="39687" y="39688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9312" y="33385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82992" y="3352324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electricity_gui.py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36570" y="33604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主程序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78618" y="3352324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check_electricity.py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79820" y="336042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早期控制台版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02868" y="3352324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config.json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42070" y="336042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运行时配置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84118" y="33523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log.txt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8195" y="3550920"/>
              <a:ext cx="25268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输出：dist/electric.exe（12MB 单文件）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54355" y="3902392"/>
            <a:ext cx="11066145" cy="1336358"/>
            <a:chOff x="554355" y="3902392"/>
            <a:chExt cx="11066145" cy="1336358"/>
          </a:xfrm>
        </p:grpSpPr>
        <p:sp>
          <p:nvSpPr>
            <p:cNvPr id="56" name="TextBox 56"/>
            <p:cNvSpPr txBox="1"/>
            <p:nvPr/>
          </p:nvSpPr>
          <p:spPr>
            <a:xfrm>
              <a:off x="554355" y="39023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核心设计决策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" y="4191000"/>
              <a:ext cx="3524250" cy="1047750"/>
              <a:chOff x="571500" y="4191000"/>
              <a:chExt cx="3524250" cy="10477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71500" y="4191000"/>
                <a:ext cx="35242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571500" y="4191000"/>
                <a:ext cx="352425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38BDF8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571500" y="4381500"/>
                <a:ext cx="3524250" cy="152400"/>
              </a:xfrm>
              <a:prstGeom prst="rect">
                <a:avLst/>
              </a:prstGeom>
              <a:solidFill>
                <a:srgbClr val="38BDF8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998250" y="4315778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8BDF8"/>
                    </a:solidFill>
                    <a:latin typeface="Arial"/>
                    <a:ea typeface="Microsoft YaHei"/>
                    <a:cs typeface="Arial"/>
                  </a:rPr>
                  <a:t>定时调度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6290" y="4630102"/>
                <a:ext cx="26183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tkinter after() 替代 Event.wait()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7242" y="4847749"/>
                <a:ext cx="21109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后台线程做 HTTP，主线程更新 UI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98195" y="5046345"/>
                <a:ext cx="19748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threading.Lock() 防止并发查询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4333875" y="4191000"/>
              <a:ext cx="3524250" cy="1047750"/>
              <a:chOff x="4333875" y="4191000"/>
              <a:chExt cx="3524250" cy="104775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4333875" y="4191000"/>
                <a:ext cx="35242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4333875" y="4191000"/>
                <a:ext cx="352425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818CF8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4333875" y="4381500"/>
                <a:ext cx="3524250" cy="152400"/>
              </a:xfrm>
              <a:prstGeom prst="rect">
                <a:avLst/>
              </a:prstGeom>
              <a:solidFill>
                <a:srgbClr val="818CF8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5760625" y="4315778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18CF8"/>
                    </a:solidFill>
                    <a:latin typeface="Arial"/>
                    <a:ea typeface="Microsoft YaHei"/>
                    <a:cs typeface="Arial"/>
                  </a:rPr>
                  <a:t>路径处理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558665" y="4630102"/>
                <a:ext cx="24036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--onefile 下 BASE_DIR vs RES_DIR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4559618" y="4847749"/>
                <a:ext cx="22746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exe 解压到临时目录 sys._MEIPASS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560570" y="5046345"/>
                <a:ext cx="18630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可写文件与只读资源分目录处理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096250" y="4191000"/>
              <a:ext cx="3524250" cy="1047750"/>
              <a:chOff x="8096250" y="4191000"/>
              <a:chExt cx="3524250" cy="10477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8096250" y="4191000"/>
                <a:ext cx="352425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31B2E"/>
              </a:solidFill>
              <a:ln w="9525">
                <a:solidFill>
                  <a:srgbClr val="1E293B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8096250" y="4191000"/>
                <a:ext cx="352425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F87171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8096250" y="4381500"/>
                <a:ext cx="3524250" cy="152400"/>
              </a:xfrm>
              <a:prstGeom prst="rect">
                <a:avLst/>
              </a:prstGeom>
              <a:solidFill>
                <a:srgbClr val="F87171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9523000" y="4315778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87171"/>
                    </a:solidFill>
                    <a:latin typeface="Arial"/>
                    <a:ea typeface="Microsoft YaHei"/>
                    <a:cs typeface="Arial"/>
                  </a:rPr>
                  <a:t>告警策略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321040" y="46301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低于阈值即发送短信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321992" y="4847749"/>
                <a:ext cx="16196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不用 alerted 标志位去重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322945" y="504634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理由：每一条告警都值得关注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571500" y="5619750"/>
            <a:ext cx="11049000" cy="400050"/>
            <a:chOff x="571500" y="5619750"/>
            <a:chExt cx="11049000" cy="400050"/>
          </a:xfrm>
        </p:grpSpPr>
        <p:sp>
          <p:nvSpPr>
            <p:cNvPr id="82" name="Rectangle 82"/>
            <p:cNvSpPr/>
            <p:nvPr/>
          </p:nvSpPr>
          <p:spPr>
            <a:xfrm>
              <a:off x="571500" y="5619750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15000"/>
                </a:srgbClr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878681" y="5755481"/>
              <a:ext cx="128588" cy="128587"/>
              <a:chOff x="878681" y="5755481"/>
              <a:chExt cx="128588" cy="128587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78681" y="5755481"/>
                <a:ext cx="128588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64294">
                    <a:moveTo>
                      <a:pt x="0" y="64294"/>
                    </a:moveTo>
                    <a:lnTo>
                      <a:pt x="7144" y="64294"/>
                    </a:lnTo>
                    <a:moveTo>
                      <a:pt x="64294" y="0"/>
                    </a:moveTo>
                    <a:lnTo>
                      <a:pt x="64294" y="7144"/>
                    </a:lnTo>
                    <a:moveTo>
                      <a:pt x="121444" y="64294"/>
                    </a:moveTo>
                    <a:lnTo>
                      <a:pt x="128588" y="64294"/>
                    </a:lnTo>
                    <a:moveTo>
                      <a:pt x="18574" y="18574"/>
                    </a:moveTo>
                    <a:lnTo>
                      <a:pt x="23574" y="23574"/>
                    </a:lnTo>
                    <a:moveTo>
                      <a:pt x="110014" y="18574"/>
                    </a:moveTo>
                    <a:lnTo>
                      <a:pt x="105013" y="23574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04227" y="5784056"/>
                <a:ext cx="7749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7495" h="100012">
                    <a:moveTo>
                      <a:pt x="17316" y="64294"/>
                    </a:moveTo>
                    <a:cubicBezTo>
                      <a:pt x="5017" y="55069"/>
                      <a:pt x="0" y="39009"/>
                      <a:pt x="4862" y="24423"/>
                    </a:cubicBezTo>
                    <a:cubicBezTo>
                      <a:pt x="9724" y="9838"/>
                      <a:pt x="23373" y="0"/>
                      <a:pt x="38748" y="0"/>
                    </a:cubicBezTo>
                    <a:cubicBezTo>
                      <a:pt x="54122" y="0"/>
                      <a:pt x="67772" y="9838"/>
                      <a:pt x="72633" y="24423"/>
                    </a:cubicBezTo>
                    <a:cubicBezTo>
                      <a:pt x="77495" y="39009"/>
                      <a:pt x="72478" y="55069"/>
                      <a:pt x="60179" y="64294"/>
                    </a:cubicBezTo>
                    <a:cubicBezTo>
                      <a:pt x="54522" y="69893"/>
                      <a:pt x="51869" y="77851"/>
                      <a:pt x="53035" y="85725"/>
                    </a:cubicBezTo>
                    <a:cubicBezTo>
                      <a:pt x="53035" y="93616"/>
                      <a:pt x="46638" y="100012"/>
                      <a:pt x="38748" y="100012"/>
                    </a:cubicBezTo>
                    <a:cubicBezTo>
                      <a:pt x="30857" y="100012"/>
                      <a:pt x="24460" y="93616"/>
                      <a:pt x="24460" y="85725"/>
                    </a:cubicBezTo>
                    <a:cubicBezTo>
                      <a:pt x="25626" y="77851"/>
                      <a:pt x="22973" y="69893"/>
                      <a:pt x="17316" y="64294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926544" y="5855494"/>
                <a:ext cx="3286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9525">
                    <a:moveTo>
                      <a:pt x="0" y="0"/>
                    </a:moveTo>
                    <a:lnTo>
                      <a:pt x="32861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129665" y="5754052"/>
              <a:ext cx="7361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整个项目零 pip 依赖（除 PyInstaller 打包外）：tkinter + urllib + smtplib + json + re 搞定全部需求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5" grpId="0"/>
      <p:bldP spid="81" grpId="0"/>
      <p:bldP spid="8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8BDF8">
                  <a:alpha val="6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721662" y="328612"/>
            <a:ext cx="2748677" cy="581026"/>
            <a:chOff x="4721662" y="328612"/>
            <a:chExt cx="2748677" cy="581026"/>
          </a:xfrm>
        </p:grpSpPr>
        <p:sp>
          <p:nvSpPr>
            <p:cNvPr id="4" name="TextBox 4"/>
            <p:cNvSpPr txBox="1"/>
            <p:nvPr/>
          </p:nvSpPr>
          <p:spPr>
            <a:xfrm>
              <a:off x="5377339" y="32861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最终效果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721662" y="696278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12MB 单文件 · 零依赖交付 · 全自动运行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02931" y="1131570"/>
            <a:ext cx="3386137" cy="1097280"/>
            <a:chOff x="4402931" y="1131570"/>
            <a:chExt cx="3386137" cy="1097280"/>
          </a:xfrm>
        </p:grpSpPr>
        <p:sp>
          <p:nvSpPr>
            <p:cNvPr id="7" name="TextBox 7"/>
            <p:cNvSpPr txBox="1"/>
            <p:nvPr/>
          </p:nvSpPr>
          <p:spPr>
            <a:xfrm>
              <a:off x="5012993" y="1131570"/>
              <a:ext cx="216601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34D399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12 MB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2931" y="1902142"/>
              <a:ext cx="33861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单个 electric.exe，无需安装 Python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2667000"/>
            <a:ext cx="4762500" cy="666750"/>
            <a:chOff x="952500" y="2667000"/>
            <a:chExt cx="4762500" cy="666750"/>
          </a:xfrm>
        </p:grpSpPr>
        <p:sp>
          <p:nvSpPr>
            <p:cNvPr id="10" name="Rectangle 10"/>
            <p:cNvSpPr/>
            <p:nvPr/>
          </p:nvSpPr>
          <p:spPr>
            <a:xfrm>
              <a:off x="952500" y="266700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66825" y="2952750"/>
              <a:ext cx="171450" cy="171450"/>
              <a:chOff x="1266825" y="2952750"/>
              <a:chExt cx="171450" cy="1714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266825" y="29527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52550" y="2990850"/>
                <a:ext cx="28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76200">
                    <a:moveTo>
                      <a:pt x="0" y="0"/>
                    </a:moveTo>
                    <a:lnTo>
                      <a:pt x="0" y="47625"/>
                    </a:lnTo>
                    <a:lnTo>
                      <a:pt x="28575" y="7620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603058" y="2834164"/>
              <a:ext cx="20756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每 10 分钟自动查询一次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5915" y="3087052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可配置 1 ~ 1440 分钟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2667000"/>
            <a:ext cx="4762500" cy="666750"/>
            <a:chOff x="6477000" y="2667000"/>
            <a:chExt cx="4762500" cy="666750"/>
          </a:xfrm>
        </p:grpSpPr>
        <p:sp>
          <p:nvSpPr>
            <p:cNvPr id="17" name="Rectangle 17"/>
            <p:cNvSpPr/>
            <p:nvPr/>
          </p:nvSpPr>
          <p:spPr>
            <a:xfrm>
              <a:off x="6477000" y="266700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780989" y="2949586"/>
              <a:ext cx="192114" cy="165051"/>
              <a:chOff x="6780989" y="2949586"/>
              <a:chExt cx="192114" cy="1650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77050" y="30099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780989" y="2949586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77050" y="30765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8717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127558" y="283416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低于阈值自动短信告警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0415" y="30870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余额 &lt; 10~15元 或 电量 &lt; 12.5~18.75kWh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2500" y="3524250"/>
            <a:ext cx="4762500" cy="666750"/>
            <a:chOff x="952500" y="3524250"/>
            <a:chExt cx="4762500" cy="666750"/>
          </a:xfrm>
        </p:grpSpPr>
        <p:sp>
          <p:nvSpPr>
            <p:cNvPr id="25" name="Rectangle 25"/>
            <p:cNvSpPr/>
            <p:nvPr/>
          </p:nvSpPr>
          <p:spPr>
            <a:xfrm>
              <a:off x="952500" y="352425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266825" y="3819525"/>
              <a:ext cx="171450" cy="161925"/>
              <a:chOff x="1266825" y="3819525"/>
              <a:chExt cx="171450" cy="1619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66825" y="3895725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81125" y="3857625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23975" y="3819525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276350" y="39719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34D399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603058" y="369141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窗口实时显示关键数据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05915" y="394430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电表名称 · 剩余金额 · 剩余电量 · 下次查询倒计时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7000" y="3524250"/>
            <a:ext cx="4762500" cy="666750"/>
            <a:chOff x="6477000" y="3524250"/>
            <a:chExt cx="4762500" cy="666750"/>
          </a:xfrm>
        </p:grpSpPr>
        <p:sp>
          <p:nvSpPr>
            <p:cNvPr id="34" name="Rectangle 34"/>
            <p:cNvSpPr/>
            <p:nvPr/>
          </p:nvSpPr>
          <p:spPr>
            <a:xfrm>
              <a:off x="6477000" y="352425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10375" y="3810000"/>
              <a:ext cx="133350" cy="171450"/>
              <a:chOff x="6810375" y="3810000"/>
              <a:chExt cx="133350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96100" y="38100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10375" y="38100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818CF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27558" y="3691414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每次查询写入日志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0415" y="3944302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log.txt 记录完整查询历史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952500" y="4619625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952500" y="4807268"/>
            <a:ext cx="10287000" cy="812482"/>
            <a:chOff x="952500" y="4807268"/>
            <a:chExt cx="10287000" cy="812482"/>
          </a:xfrm>
        </p:grpSpPr>
        <p:sp>
          <p:nvSpPr>
            <p:cNvPr id="42" name="TextBox 42"/>
            <p:cNvSpPr txBox="1"/>
            <p:nvPr/>
          </p:nvSpPr>
          <p:spPr>
            <a:xfrm>
              <a:off x="3801570" y="480726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打包产物（PyInstaller --onefile --windowed）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2500" y="5143500"/>
              <a:ext cx="10287000" cy="476250"/>
            </a:xfrm>
            <a:prstGeom prst="roundRect">
              <a:avLst>
                <a:gd name="adj" fmla="val 16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273969" y="5403056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9050">
              <a:solidFill>
                <a:srgbClr val="34D39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09712" y="5364956"/>
              <a:ext cx="6296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Python 3.14 运行时 + tkinter + smtplib + 业务逻辑 + 图标资源 → 单个 electric.exe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905000" y="5953125"/>
            <a:ext cx="8382000" cy="457200"/>
            <a:chOff x="1905000" y="5953125"/>
            <a:chExt cx="8382000" cy="457200"/>
          </a:xfrm>
        </p:grpSpPr>
        <p:sp>
          <p:nvSpPr>
            <p:cNvPr id="47" name="Rectangle 47"/>
            <p:cNvSpPr/>
            <p:nvPr/>
          </p:nvSpPr>
          <p:spPr>
            <a:xfrm>
              <a:off x="1905000" y="5953125"/>
              <a:ext cx="8382000" cy="457200"/>
            </a:xfrm>
            <a:prstGeom prst="roundRect">
              <a:avLst>
                <a:gd name="adj" fmla="val 16667"/>
              </a:avLst>
            </a:prstGeom>
            <a:solidFill>
              <a:srgbClr val="34D399">
                <a:alpha val="5000"/>
              </a:srgbClr>
            </a:solidFill>
            <a:ln w="9525">
              <a:solidFill>
                <a:srgbClr val="34D399">
                  <a:alpha val="15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86102" y="6083618"/>
              <a:ext cx="52197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34D399"/>
                  </a:solidFill>
                  <a:latin typeface="Georgia"/>
                  <a:ea typeface="Microsoft YaHei"/>
                  <a:cs typeface="Georgia"/>
                </a:rPr>
                <a:t>一个 12MB 的 exe，一台 Windows 电脑，再也不怕电费欠费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67313" y="6522720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4" grpId="0"/>
      <p:bldP spid="33" grpId="0"/>
      <p:bldP spid="40" grpId="0"/>
      <p:bldP spid="46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2438"/>
            <a:ext cx="3174921" cy="561974"/>
            <a:chOff x="571500" y="452438"/>
            <a:chExt cx="3174921" cy="561974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762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475" y="452438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四条关键经验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715" y="801052"/>
              <a:ext cx="29787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KEY TAKEAWAYS · 从实践中沉淀的工程智慧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333500" y="123825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28575" cap="rnd">
            <a:gradFill>
              <a:gsLst>
                <a:gs pos="0">
                  <a:srgbClr val="38BDF8"/>
                </a:gs>
                <a:gs pos="33000">
                  <a:srgbClr val="818CF8"/>
                </a:gs>
                <a:gs pos="66000">
                  <a:srgbClr val="34D399"/>
                </a:gs>
                <a:gs pos="100000">
                  <a:srgbClr val="F87171"/>
                </a:gs>
              </a:gsLst>
              <a:lin ang="5400000" scaled="1"/>
            </a:gradFill>
          </a:ln>
        </p:spPr>
      </p:sp>
      <p:sp>
        <p:nvSpPr>
          <p:cNvPr id="8" name="Polygon 8"/>
          <p:cNvSpPr/>
          <p:nvPr/>
        </p:nvSpPr>
        <p:spPr>
          <a:xfrm>
            <a:off x="1257300" y="59817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76200" y="13335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7171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1066800" y="1381125"/>
            <a:ext cx="10553700" cy="790575"/>
            <a:chOff x="1066800" y="1381125"/>
            <a:chExt cx="10553700" cy="790575"/>
          </a:xfrm>
        </p:grpSpPr>
        <p:sp>
          <p:nvSpPr>
            <p:cNvPr id="9" name="Ellipse 9"/>
            <p:cNvSpPr/>
            <p:nvPr/>
          </p:nvSpPr>
          <p:spPr>
            <a:xfrm>
              <a:off x="1066800" y="1447800"/>
              <a:ext cx="533400" cy="533400"/>
            </a:xfrm>
            <a:prstGeom prst="ellipse">
              <a:avLst/>
            </a:prstGeom>
            <a:solidFill>
              <a:srgbClr val="38BDF8">
                <a:alpha val="1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1543050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1731" y="16583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600200" y="17145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  <a:custDash>
                <a:ds d="200000" sp="150000"/>
              </a:custDash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05000" y="1381125"/>
              <a:ext cx="9715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05000" y="1381125"/>
              <a:ext cx="47625" cy="666750"/>
            </a:xfrm>
            <a:prstGeom prst="roundRect">
              <a:avLst>
                <a:gd name="adj" fmla="val 4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74558" y="1500664"/>
              <a:ext cx="31607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隐藏接口是无鉴权系统的最薄弱环节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77415" y="1772602"/>
              <a:ext cx="7004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code → mid 一个参数名的变化绕过了微信 OAuth。做安全审计时，测试参数名变体是一个有效的技巧。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3611" y="1562100"/>
              <a:ext cx="19854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38BDF8">
                      <a:alphaMod val="4000"/>
                    </a:srgbClr>
                  </a:solidFill>
                  <a:latin typeface="Arial"/>
                  <a:ea typeface="Microsoft YaHei"/>
                  <a:cs typeface="Arial"/>
                </a:rPr>
                <a:t>SECURITY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66800" y="2476500"/>
            <a:ext cx="10553700" cy="790575"/>
            <a:chOff x="1066800" y="2476500"/>
            <a:chExt cx="10553700" cy="790575"/>
          </a:xfrm>
        </p:grpSpPr>
        <p:sp>
          <p:nvSpPr>
            <p:cNvPr id="19" name="Ellipse 19"/>
            <p:cNvSpPr/>
            <p:nvPr/>
          </p:nvSpPr>
          <p:spPr>
            <a:xfrm>
              <a:off x="1066800" y="2543175"/>
              <a:ext cx="533400" cy="533400"/>
            </a:xfrm>
            <a:prstGeom prst="ellipse">
              <a:avLst/>
            </a:prstGeom>
            <a:solidFill>
              <a:srgbClr val="818CF8">
                <a:alpha val="1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62050" y="2638425"/>
              <a:ext cx="342900" cy="3429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31604" y="275367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600200" y="28098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818CF8"/>
              </a:solidFill>
              <a:custDash>
                <a:ds d="200000" sp="150000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905000" y="2476500"/>
              <a:ext cx="9715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05000" y="2476500"/>
              <a:ext cx="47625" cy="666750"/>
            </a:xfrm>
            <a:prstGeom prst="roundRect">
              <a:avLst>
                <a:gd name="adj" fmla="val 40000"/>
              </a:avLst>
            </a:prstGeom>
            <a:solidFill>
              <a:srgbClr val="818C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74558" y="2596039"/>
              <a:ext cx="35518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短信下发链路中每个环节都可能沉默失败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77415" y="2867978"/>
              <a:ext cx="71422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SMTP 成功 ≠ 邮件到达 ≠ 短信发送。139邮箱的短信通知开关是隐藏断点，靠用户手动登录邮箱才定位到。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2706" y="2657475"/>
              <a:ext cx="122634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818CF8">
                      <a:alphaMod val="4000"/>
                    </a:srgbClr>
                  </a:solidFill>
                  <a:latin typeface="Arial"/>
                  <a:ea typeface="Microsoft YaHei"/>
                  <a:cs typeface="Arial"/>
                </a:rPr>
                <a:t>CHAIN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66800" y="3571875"/>
            <a:ext cx="10553700" cy="790575"/>
            <a:chOff x="1066800" y="3571875"/>
            <a:chExt cx="10553700" cy="790575"/>
          </a:xfrm>
        </p:grpSpPr>
        <p:sp>
          <p:nvSpPr>
            <p:cNvPr id="29" name="Ellipse 29"/>
            <p:cNvSpPr/>
            <p:nvPr/>
          </p:nvSpPr>
          <p:spPr>
            <a:xfrm>
              <a:off x="1066800" y="3638550"/>
              <a:ext cx="533400" cy="533400"/>
            </a:xfrm>
            <a:prstGeom prst="ellipse">
              <a:avLst/>
            </a:prstGeom>
            <a:solidFill>
              <a:srgbClr val="34D399">
                <a:alpha val="1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62050" y="3733800"/>
              <a:ext cx="342900" cy="3429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31604" y="38490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600200" y="3905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34D399"/>
              </a:solidFill>
              <a:custDash>
                <a:ds d="200000" sp="150000"/>
              </a:custDash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05000" y="3571875"/>
              <a:ext cx="9715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05000" y="3571875"/>
              <a:ext cx="47625" cy="6667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74558" y="3691414"/>
              <a:ext cx="4597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PyInstaller --onefile 的文件路径是最容易出错的点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77415" y="3963352"/>
              <a:ext cx="8997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__file__ vs sys.executable vs sys._MEIPASS 三者在开发和 frozen 模式下指向完全不同。可写文件和只读资源必须分目录处理。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07692" y="3752850"/>
              <a:ext cx="1341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34D399">
                      <a:alphaMod val="4000"/>
                    </a:srgbClr>
                  </a:solidFill>
                  <a:latin typeface="Arial"/>
                  <a:ea typeface="Microsoft YaHei"/>
                  <a:cs typeface="Arial"/>
                </a:rPr>
                <a:t>PATHS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6800" y="4667250"/>
            <a:ext cx="10553700" cy="790575"/>
            <a:chOff x="1066800" y="4667250"/>
            <a:chExt cx="10553700" cy="790575"/>
          </a:xfrm>
        </p:grpSpPr>
        <p:sp>
          <p:nvSpPr>
            <p:cNvPr id="39" name="Ellipse 39"/>
            <p:cNvSpPr/>
            <p:nvPr/>
          </p:nvSpPr>
          <p:spPr>
            <a:xfrm>
              <a:off x="1066800" y="4733925"/>
              <a:ext cx="533400" cy="533400"/>
            </a:xfrm>
            <a:prstGeom prst="ellipse">
              <a:avLst/>
            </a:prstGeom>
            <a:solidFill>
              <a:srgbClr val="F87171">
                <a:alpha val="1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62050" y="4829175"/>
              <a:ext cx="342900" cy="3429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31604" y="49444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600200" y="50006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F87171"/>
              </a:solidFill>
              <a:custDash>
                <a:ds d="200000" sp="150000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1905000" y="4667250"/>
              <a:ext cx="9715500" cy="666750"/>
            </a:xfrm>
            <a:prstGeom prst="roundRect">
              <a:avLst>
                <a:gd name="adj" fmla="val 14286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905000" y="4667250"/>
              <a:ext cx="47625" cy="666750"/>
            </a:xfrm>
            <a:prstGeom prst="roundRect">
              <a:avLst>
                <a:gd name="adj" fmla="val 4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74558" y="4786789"/>
              <a:ext cx="32780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Python 标准库能做的事远比想象的多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77415" y="5058728"/>
              <a:ext cx="92508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整个项目零 pip 依赖（除 PyInstaller），tkinter + urllib + smtplib + json + re 就搞定了 GUI、HTTP、邮件、配置、解析的全部需求。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69675" y="4848225"/>
              <a:ext cx="147937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F87171">
                      <a:alphaMod val="4000"/>
                    </a:srgbClr>
                  </a:solidFill>
                  <a:latin typeface="Arial"/>
                  <a:ea typeface="Microsoft YaHei"/>
                  <a:cs typeface="Arial"/>
                </a:rPr>
                <a:t>STDLIB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662839" y="6324124"/>
            <a:ext cx="4866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以上四条经验适用于所有小型独立项目：用最简单的方法，解决最真实的问题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38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8BDF8">
                  <a:alpha val="6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001250" y="762000"/>
            <a:ext cx="1257300" cy="776287"/>
            <a:chOff x="10001250" y="762000"/>
            <a:chExt cx="1257300" cy="776287"/>
          </a:xfrm>
        </p:grpSpPr>
        <p:sp>
          <p:nvSpPr>
            <p:cNvPr id="4" name="Rectangle 4"/>
            <p:cNvSpPr/>
            <p:nvPr/>
          </p:nvSpPr>
          <p:spPr>
            <a:xfrm>
              <a:off x="10001250" y="762000"/>
              <a:ext cx="952500" cy="1905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2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220450" y="1123950"/>
              <a:ext cx="38100" cy="38100"/>
            </a:xfrm>
            <a:prstGeom prst="ellipse">
              <a:avLst/>
            </a:prstGeom>
            <a:solidFill>
              <a:srgbClr val="34D399">
                <a:alpha val="2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53712" y="1509712"/>
              <a:ext cx="28575" cy="28575"/>
            </a:xfrm>
            <a:prstGeom prst="ellipse">
              <a:avLst/>
            </a:prstGeom>
            <a:solidFill>
              <a:srgbClr val="818CF8">
                <a:alpha val="20000"/>
              </a:srgbClr>
            </a:solidFill>
            <a:ln>
              <a:noFill/>
            </a:ln>
          </p:spPr>
        </p:sp>
      </p:grpSp>
      <p:sp>
        <p:nvSpPr>
          <p:cNvPr id="8" name="Rectangle 8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625"/>
            </a:avLst>
          </a:prstGeom>
          <a:noFill/>
          <a:ln w="9525">
            <a:solidFill>
              <a:srgbClr val="1E293B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4529071" y="2023110"/>
            <a:ext cx="3133858" cy="1420178"/>
            <a:chOff x="4529071" y="2023110"/>
            <a:chExt cx="3133858" cy="1420178"/>
          </a:xfrm>
        </p:grpSpPr>
        <p:sp>
          <p:nvSpPr>
            <p:cNvPr id="9" name="TextBox 9"/>
            <p:cNvSpPr txBox="1"/>
            <p:nvPr/>
          </p:nvSpPr>
          <p:spPr>
            <a:xfrm>
              <a:off x="4529071" y="2023110"/>
              <a:ext cx="313385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0">
                        <a:srgbClr val="38BDF8"/>
                      </a:gs>
                      <a:gs pos="100000">
                        <a:srgbClr val="818CF8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0" y="2762250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9641" y="3108008"/>
              <a:ext cx="26927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用最小成本解决真实问题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3500" y="3810000"/>
            <a:ext cx="9525000" cy="762000"/>
            <a:chOff x="1333500" y="3810000"/>
            <a:chExt cx="9525000" cy="762000"/>
          </a:xfrm>
        </p:grpSpPr>
        <p:sp>
          <p:nvSpPr>
            <p:cNvPr id="13" name="Rectangle 13"/>
            <p:cNvSpPr/>
            <p:nvPr/>
          </p:nvSpPr>
          <p:spPr>
            <a:xfrm>
              <a:off x="1333500" y="3810000"/>
              <a:ext cx="9525000" cy="762000"/>
            </a:xfrm>
            <a:prstGeom prst="roundRect">
              <a:avLst>
                <a:gd name="adj" fmla="val 15000"/>
              </a:avLst>
            </a:prstGeom>
            <a:solidFill>
              <a:srgbClr val="131B2E"/>
            </a:solidFill>
            <a:ln w="9525">
              <a:solidFill>
                <a:srgbClr val="1E293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06503" y="3981450"/>
              <a:ext cx="33789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38BDF8"/>
                  </a:solidFill>
                  <a:latin typeface="Georgia"/>
                  <a:ea typeface="Microsoft YaHei"/>
                  <a:cs typeface="Georgia"/>
                </a:rPr>
                <a:t>一个参数名的变化绕过微信 OAuth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8680" y="42519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隐藏接口是无鉴权系统的最薄弱环节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65705" y="5022056"/>
            <a:ext cx="1860590" cy="459582"/>
            <a:chOff x="5165705" y="5022056"/>
            <a:chExt cx="1860590" cy="459582"/>
          </a:xfrm>
        </p:grpSpPr>
        <p:sp>
          <p:nvSpPr>
            <p:cNvPr id="17" name="TextBox 17"/>
            <p:cNvSpPr txBox="1"/>
            <p:nvPr/>
          </p:nvSpPr>
          <p:spPr>
            <a:xfrm>
              <a:off x="5165705" y="502205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电费监控精灵 · 项目复盘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9444" y="5268278"/>
              <a:ext cx="893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 年 5 月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6572250"/>
            <a:ext cx="12192000" cy="285750"/>
            <a:chOff x="0" y="6572250"/>
            <a:chExt cx="12192000" cy="285750"/>
          </a:xfrm>
        </p:grpSpPr>
        <p:sp>
          <p:nvSpPr>
            <p:cNvPr id="20" name="Rectangle 20"/>
            <p:cNvSpPr/>
            <p:nvPr/>
          </p:nvSpPr>
          <p:spPr>
            <a:xfrm>
              <a:off x="0" y="6572250"/>
              <a:ext cx="12192000" cy="285750"/>
            </a:xfrm>
            <a:prstGeom prst="rect">
              <a:avLst/>
            </a:prstGeom>
            <a:solidFill>
              <a:srgbClr val="131B2E">
                <a:alpha val="5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1000" y="666750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5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2922" y="6673691"/>
              <a:ext cx="7077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PPT-MASTER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6622" y="66736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